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NARRATION</a:t>
            </a:r>
          </a:p>
          <a:p>
            <a:r>
              <a:t>We often meet group chat as two model-backed participants taking alternating turns. That is a starting configuration, not the definition of the pattern. Group chat is a coordinated conversation: one contribution can trigger critique, revision, new evidence, or a different specialist's turn.</a:t>
            </a:r>
          </a:p>
          <a:p/>
          <a:p>
            <a:r>
              <a:t>Walk through the hub-and-spoke diagram. The role labels are illustrative responsibilities, not agent names, a required team, or a sequence. The highlighted connection shows that the manager can select a relevant participant rather than following a fixed order. The host carries the conversation; the manager supplies coordination policy.</a:t>
            </a:r>
          </a:p>
          <a:p/>
          <a:p>
            <a:r>
              <a:t>TEACHING NUANCE</a:t>
            </a:r>
          </a:p>
          <a:p>
            <a:r>
              <a:t>This diagram describes ordinary sequential turn selection. It does not claim that tool calls or the internals of a participant must be sequential. Shared conversation is the default model; a manager can shape what context is broadcast.</a:t>
            </a:r>
          </a:p>
          <a:p/>
          <a:p>
            <a:r>
              <a:t>AUDIENCE QUESTION</a:t>
            </a:r>
          </a:p>
          <a:p>
            <a:r>
              <a:t>When would revisiting an earlier contributor be more useful than adding another pipeline stage?</a:t>
            </a:r>
          </a:p>
          <a:p/>
          <a:p>
            <a:r>
              <a:t>SOURCE</a:t>
            </a:r>
          </a:p>
          <a:p>
            <a:r>
              <a:t>https://learn.microsoft.com/agent-framework/workflows/orchestrations/group-chat?pivots=programming-language-csharp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NARRATION</a:t>
            </a:r>
          </a:p>
          <a:p>
            <a:r>
              <a:t>An agent abstraction describes how a participant is invoked and how it responds. It does not require every implementation to call a language model. In Agent Framework, a custom AIAgent can adapt a human interface or ordinary code to the same orchestration contract.</a:t>
            </a:r>
          </a:p>
          <a:p/>
          <a:p>
            <a:r>
              <a:t>Read the three columns as alternative implementations of a selected participant, not as three participants invoked simultaneously. Each consumes conversational input when scheduled and produces a response. A person can approve, reject, or provide feedback. Code can validate a rule or calculate a result. A model can generate or critique a proposal.</a:t>
            </a:r>
          </a:p>
          <a:p/>
          <a:p>
            <a:r>
              <a:t>TEACHING NUANCE</a:t>
            </a:r>
          </a:p>
          <a:p>
            <a:r>
              <a:t>Human input or a normal function does not automatically become an agent: an adapter must implement the framework contract. In an implementation discussion, cover both streaming and non-streaming response paths and the participant's session behavior. The common interface does not imply equal trust or decision authority.</a:t>
            </a:r>
          </a:p>
          <a:p/>
          <a:p>
            <a:r>
              <a:t>AUDIENCE QUESTION</a:t>
            </a:r>
          </a:p>
          <a:p>
            <a:r>
              <a:t>Which responsibilities need language generation, and which would be clearer as a person or a deterministic function?</a:t>
            </a:r>
          </a:p>
          <a:p/>
          <a:p>
            <a:r>
              <a:t>SOURCES</a:t>
            </a:r>
          </a:p>
          <a:p>
            <a:r>
              <a:t>https://learn.microsoft.com/dotnet/api/microsoft.agents.ai.aiagent</a:t>
            </a:r>
          </a:p>
          <a:p>
            <a:r>
              <a:t>https://learn.microsoft.com/agent-framework/workflows/orchestrations/group-chat?pivots=programming-language-csharp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NARRATION</a:t>
            </a:r>
          </a:p>
          <a:p>
            <a:r>
              <a:t>Here the person is a scheduled participant in the conversation. A proposal reaches a human decision turn, and the response becomes another message. A rejection can send the work back for revision; an approval permits the next step under the application's authority policy. Human participants can also provide open-ended feedback instead of a binary verdict.</a:t>
            </a:r>
          </a:p>
          <a:p/>
          <a:p>
            <a:r>
              <a:t>Contrast this with tool approval: a pending function invocation is intercepted, and the person approves or rejects that particular call. A conversational approval of a plan is a different scope from authorizing each tool invocation. Both patterns can coexist when an application needs both controls.</a:t>
            </a:r>
          </a:p>
          <a:p/>
          <a:p>
            <a:r>
              <a:t>TEACHING NUANCE</a:t>
            </a:r>
          </a:p>
          <a:p>
            <a:r>
              <a:t>An approval word in chat is not an enforced authorization boundary. The application must identify the authoritative participant and associate its latest decision with the current proposal. Advisory reviewers must not accidentally overrule or impersonate that authority. Prompt instructions alone are not sufficient for consequential actions.</a:t>
            </a:r>
          </a:p>
          <a:p/>
          <a:p>
            <a:r>
              <a:t>A console pause is a minimal demonstration, not durable infrastructure. Persisted requests, cancellation, authentication and resumable execution are separate concerns.</a:t>
            </a:r>
          </a:p>
          <a:p/>
          <a:p>
            <a:r>
              <a:t>AUDIENCE QUESTION</a:t>
            </a:r>
          </a:p>
          <a:p>
            <a:r>
              <a:t>Are we asking for approval of the plan, of one tool call, or of both?</a:t>
            </a:r>
          </a:p>
          <a:p/>
          <a:p>
            <a:r>
              <a:t>SOURCES</a:t>
            </a:r>
          </a:p>
          <a:p>
            <a:r>
              <a:t>https://learn.microsoft.com/dotnet/api/microsoft.agents.ai.aiagent</a:t>
            </a:r>
          </a:p>
          <a:p>
            <a:r>
              <a:t>https://learn.microsoft.com/dotnet/api/microsoft.extensions.ai.approvalrequiredaifunction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NARRATION</a:t>
            </a:r>
          </a:p>
          <a:p>
            <a:r>
              <a:t>Separate three responsibilities rather than treating the manager as a single opaque decision. First, decide whether the conversation should end. If it continues, prepare the context to share and select the next speaker. That participant runs, its response arrives, and the manager evaluates the next cycle.</a:t>
            </a:r>
          </a:p>
          <a:p/>
          <a:p>
            <a:r>
              <a:t>In the C# samples, ShouldTerminateAsync, UpdateHistoryAsync and SelectNextAgentAsync are the relevant customization points. Keeping round-robin selection while changing termination is a small first step. A custom manager can then use state and evidence to skip irrelevant participants, revisit a contributor or request human input. An LLM-based selector is optional, not required.</a:t>
            </a:r>
          </a:p>
          <a:p/>
          <a:p>
            <a:r>
              <a:t>TEACHING NUANCE</a:t>
            </a:r>
          </a:p>
          <a:p>
            <a:r>
              <a:t>The two arrows across the top are followed only when the stop policy says to continue. Reaching a desired outcome and exhausting the turn budget are different termination reasons. MaximumIterationCount limits participant turns, not complete rounds and not necessarily the number of underlying model/tool calls. Output-source selection is another concern; it does not schedule speakers.</a:t>
            </a:r>
          </a:p>
          <a:p/>
          <a:p>
            <a:r>
              <a:t>AUDIENCE QUESTION</a:t>
            </a:r>
          </a:p>
          <a:p>
            <a:r>
              <a:t>Which participants can we skip when a decisive result is already available?</a:t>
            </a:r>
          </a:p>
          <a:p/>
          <a:p>
            <a:r>
              <a:t>SOURCES</a:t>
            </a:r>
          </a:p>
          <a:p>
            <a:r>
              <a:t>https://learn.microsoft.com/agent-framework/workflows/orchestrations/group-chat?pivots=programming-language-csharp</a:t>
            </a:r>
          </a:p>
          <a:p>
            <a:r>
              <a:t>https://learn.microsoft.com/dotnet/api/microsoft.agents.ai.workflows.groupchatmanager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NARRATION</a:t>
            </a:r>
          </a:p>
          <a:p>
            <a:r>
              <a:t>A conversation may contain a request to perform a check, a prediction that the check will succeed, and a later statement that it is complete. Those sentences are not interchangeable facts. Do not make the model reconstruct workflow progress from its own earlier wording.</a:t>
            </a:r>
          </a:p>
          <a:p/>
          <a:p>
            <a:r>
              <a:t>Walk through the lower diagram. The application observes a successful tool result, updates explicit state, and exposes that state to the next decision. The same principle applies to evidence counts, pending human decisions and revision numbers. Define what counts as one piece of evidence, and do not count repeated mentions as new observations.</a:t>
            </a:r>
          </a:p>
          <a:p/>
          <a:p>
            <a:r>
              <a:t>TEACHING NUANCE</a:t>
            </a:r>
          </a:p>
          <a:p>
            <a:r>
              <a:t>Evidence supports one specific claim: a successful check result establishes that check's completion, not authorization for all later actions. State should be scoped to the relevant operation or proposal. Even with correct state and deterministic routing, a model can still make an invalid numeric comparison. Enforce deterministic rules in code when correctness requires it.</a:t>
            </a:r>
          </a:p>
          <a:p/>
          <a:p>
            <a:r>
              <a:t>Validate intermediate decisions, participant order and real side effects—not only a successful process exit or a plausible final answer. Repeated runs reveal variation; passing a small random sample is not a proof.</a:t>
            </a:r>
          </a:p>
          <a:p/>
          <a:p>
            <a:r>
              <a:t>CLOSING QUESTION</a:t>
            </a:r>
          </a:p>
          <a:p>
            <a:r>
              <a:t>Who speaks next, what evidence do they receive, and what proves we are done?</a:t>
            </a:r>
          </a:p>
          <a:p/>
          <a:p>
            <a:r>
              <a:t>SOURCE</a:t>
            </a:r>
          </a:p>
          <a:p>
            <a:r>
              <a:t>https://learn.microsoft.com/dotnet/api/microsoft.agents.ai.workflows.groupchatmanager.updatehistoryasync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MICROSOFT AGENT FRAMEWORK  /  GROUP CHAT"/>
          <p:cNvSpPr txBox="1"/>
          <p:nvPr/>
        </p:nvSpPr>
        <p:spPr>
          <a:xfrm>
            <a:off x="640080" y="292608"/>
            <a:ext cx="10789920" cy="246888"/>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1100" b="1">
                <a:solidFill>
                  <a:srgbClr val="087F8C"/>
                </a:solidFill>
                <a:latin typeface="Aptos"/>
              </a:rPr>
              <a:t>MICROSOFT AGENT FRAMEWORK  /  GROUP CHAT</a:t>
            </a:r>
          </a:p>
        </p:txBody>
      </p:sp>
      <p:sp>
        <p:nvSpPr>
          <p:cNvPr id="4" name="Text: Group chat is more than round robin"/>
          <p:cNvSpPr txBox="1"/>
          <p:nvPr/>
        </p:nvSpPr>
        <p:spPr>
          <a:xfrm>
            <a:off x="640080" y="713232"/>
            <a:ext cx="10927080" cy="566928"/>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3100" b="1">
                <a:solidFill>
                  <a:srgbClr val="172B46"/>
                </a:solidFill>
                <a:latin typeface="Aptos"/>
              </a:rPr>
              <a:t>Group chat is more than round robin</a:t>
            </a:r>
          </a:p>
        </p:txBody>
      </p:sp>
      <p:sp>
        <p:nvSpPr>
          <p:cNvPr id="5" name="Text: A coordinated conversation can review, revise, and revisit e"/>
          <p:cNvSpPr txBox="1"/>
          <p:nvPr/>
        </p:nvSpPr>
        <p:spPr>
          <a:xfrm>
            <a:off x="640080" y="1362456"/>
            <a:ext cx="10881360" cy="384048"/>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1700" b="0">
                <a:solidFill>
                  <a:srgbClr val="52647B"/>
                </a:solidFill>
                <a:latin typeface="Aptos"/>
              </a:rPr>
              <a:t>A coordinated conversation can review, revise, and revisit earlier work.</a:t>
            </a:r>
          </a:p>
        </p:txBody>
      </p:sp>
      <p:sp>
        <p:nvSpPr>
          <p:cNvPr id="6" name="Rounded Rectangle 5"/>
          <p:cNvSpPr/>
          <p:nvPr/>
        </p:nvSpPr>
        <p:spPr>
          <a:xfrm>
            <a:off x="640080" y="5907024"/>
            <a:ext cx="10908792" cy="512064"/>
          </a:xfrm>
          <a:prstGeom prst="roundRect">
            <a:avLst>
              <a:gd name="adj" fmla="val 12000"/>
            </a:avLst>
          </a:prstGeom>
          <a:solidFill>
            <a:srgbClr val="17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Round robin is one speaker-selection policy—not the definiti"/>
          <p:cNvSpPr txBox="1"/>
          <p:nvPr/>
        </p:nvSpPr>
        <p:spPr>
          <a:xfrm>
            <a:off x="832104" y="5961888"/>
            <a:ext cx="10515600" cy="374904"/>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1700" b="1">
                <a:solidFill>
                  <a:srgbClr val="FFFFFF"/>
                </a:solidFill>
                <a:latin typeface="Aptos"/>
              </a:rPr>
              <a:t>Round robin is one speaker-selection policy—not the definition of group chat.</a:t>
            </a:r>
          </a:p>
        </p:txBody>
      </p:sp>
      <p:sp>
        <p:nvSpPr>
          <p:cNvPr id="8" name="Text: CONCEPTS, NOT A FIXED IMPLEMENTATION"/>
          <p:cNvSpPr txBox="1"/>
          <p:nvPr/>
        </p:nvSpPr>
        <p:spPr>
          <a:xfrm>
            <a:off x="640080" y="6556248"/>
            <a:ext cx="8686800" cy="182880"/>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900" b="0">
                <a:solidFill>
                  <a:srgbClr val="52647B"/>
                </a:solidFill>
                <a:latin typeface="Aptos"/>
              </a:rPr>
              <a:t>CONCEPTS, NOT A FIXED IMPLEMENTATION</a:t>
            </a:r>
          </a:p>
        </p:txBody>
      </p:sp>
      <p:sp>
        <p:nvSpPr>
          <p:cNvPr id="9" name="Text: 01  /  05"/>
          <p:cNvSpPr txBox="1"/>
          <p:nvPr/>
        </p:nvSpPr>
        <p:spPr>
          <a:xfrm>
            <a:off x="10497312" y="6501384"/>
            <a:ext cx="1051560" cy="274320"/>
          </a:xfrm>
          <a:prstGeom prst="rect">
            <a:avLst/>
          </a:prstGeom>
          <a:noFill/>
        </p:spPr>
        <p:txBody>
          <a:bodyPr wrap="square" lIns="13716" rIns="13716" tIns="13716" bIns="13716" anchor="ctr">
            <a:spAutoFit/>
          </a:bodyPr>
          <a:lstStyle/>
          <a:p>
            <a:pPr algn="r">
              <a:lnSpc>
                <a:spcPct val="108000"/>
              </a:lnSpc>
              <a:spcBef>
                <a:spcPts val="0"/>
              </a:spcBef>
              <a:spcAft>
                <a:spcPts val="0"/>
              </a:spcAft>
            </a:pPr>
            <a:r>
              <a:rPr sz="1100" b="0">
                <a:solidFill>
                  <a:srgbClr val="52647B"/>
                </a:solidFill>
                <a:latin typeface="Aptos"/>
              </a:rPr>
              <a:t>01  /  05</a:t>
            </a:r>
          </a:p>
        </p:txBody>
      </p:sp>
      <p:sp>
        <p:nvSpPr>
          <p:cNvPr id="10" name="Rounded Rectangle 9"/>
          <p:cNvSpPr/>
          <p:nvPr/>
        </p:nvSpPr>
        <p:spPr>
          <a:xfrm>
            <a:off x="640080" y="1938528"/>
            <a:ext cx="6675120" cy="3657600"/>
          </a:xfrm>
          <a:prstGeom prst="roundRect">
            <a:avLst>
              <a:gd name="adj" fmla="val 12000"/>
            </a:avLst>
          </a:prstGeom>
          <a:solidFill>
            <a:srgbClr val="FFFFFF"/>
          </a:solidFill>
          <a:ln w="12700">
            <a:solidFill>
              <a:srgbClr val="CED7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A FLEXIBLE SET OF PARTICIPANTS"/>
          <p:cNvSpPr txBox="1"/>
          <p:nvPr/>
        </p:nvSpPr>
        <p:spPr>
          <a:xfrm>
            <a:off x="914400" y="2093976"/>
            <a:ext cx="6108192" cy="274320"/>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1100" b="1">
                <a:solidFill>
                  <a:srgbClr val="52647B"/>
                </a:solidFill>
                <a:latin typeface="Aptos"/>
              </a:rPr>
              <a:t>A FLEXIBLE SET OF PARTICIPANTS</a:t>
            </a:r>
          </a:p>
        </p:txBody>
      </p:sp>
      <p:cxnSp>
        <p:nvCxnSpPr>
          <p:cNvPr id="12" name="Connector 11"/>
          <p:cNvCxnSpPr/>
          <p:nvPr/>
        </p:nvCxnSpPr>
        <p:spPr>
          <a:xfrm>
            <a:off x="2688336" y="3099816"/>
            <a:ext cx="384048" cy="164592"/>
          </a:xfrm>
          <a:prstGeom prst="line">
            <a:avLst/>
          </a:prstGeom>
          <a:ln w="22860">
            <a:solidFill>
              <a:srgbClr val="52647B"/>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4818888" y="3099816"/>
            <a:ext cx="301752" cy="164592"/>
          </a:xfrm>
          <a:prstGeom prst="line">
            <a:avLst/>
          </a:prstGeom>
          <a:ln w="27940">
            <a:solidFill>
              <a:srgbClr val="087F8C"/>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642616" y="4242816"/>
            <a:ext cx="493776" cy="237744"/>
          </a:xfrm>
          <a:prstGeom prst="line">
            <a:avLst/>
          </a:prstGeom>
          <a:ln w="22860">
            <a:solidFill>
              <a:srgbClr val="52647B"/>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4764024" y="4242816"/>
            <a:ext cx="402336" cy="237744"/>
          </a:xfrm>
          <a:prstGeom prst="line">
            <a:avLst/>
          </a:prstGeom>
          <a:ln w="22860">
            <a:solidFill>
              <a:srgbClr val="52647B"/>
            </a:solidFill>
            <a:headEnd type="triangle" w="sm" len="sm"/>
            <a:tailEnd type="triangle" w="sm" len="sm"/>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033271" y="2441448"/>
            <a:ext cx="2029968" cy="640080"/>
          </a:xfrm>
          <a:prstGeom prst="roundRect">
            <a:avLst>
              <a:gd name="adj" fmla="val 12000"/>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Propose"/>
          <p:cNvSpPr txBox="1"/>
          <p:nvPr/>
        </p:nvSpPr>
        <p:spPr>
          <a:xfrm>
            <a:off x="1124712" y="2496312"/>
            <a:ext cx="1847088" cy="530352"/>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2000" b="1">
                <a:solidFill>
                  <a:srgbClr val="4263D8"/>
                </a:solidFill>
                <a:latin typeface="Aptos"/>
              </a:rPr>
              <a:t>Propose</a:t>
            </a:r>
          </a:p>
        </p:txBody>
      </p:sp>
      <p:sp>
        <p:nvSpPr>
          <p:cNvPr id="18" name="Rounded Rectangle 17"/>
          <p:cNvSpPr/>
          <p:nvPr/>
        </p:nvSpPr>
        <p:spPr>
          <a:xfrm>
            <a:off x="4626864" y="2441448"/>
            <a:ext cx="2029968" cy="640080"/>
          </a:xfrm>
          <a:prstGeom prst="roundRect">
            <a:avLst>
              <a:gd name="adj" fmla="val 12000"/>
            </a:avLst>
          </a:prstGeom>
          <a:solidFill>
            <a:srgbClr val="E5F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Review"/>
          <p:cNvSpPr txBox="1"/>
          <p:nvPr/>
        </p:nvSpPr>
        <p:spPr>
          <a:xfrm>
            <a:off x="4718303" y="2496312"/>
            <a:ext cx="1847088" cy="530352"/>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2000" b="1">
                <a:solidFill>
                  <a:srgbClr val="087F8C"/>
                </a:solidFill>
                <a:latin typeface="Aptos"/>
              </a:rPr>
              <a:t>Review</a:t>
            </a:r>
          </a:p>
        </p:txBody>
      </p:sp>
      <p:sp>
        <p:nvSpPr>
          <p:cNvPr id="20" name="Rounded Rectangle 19"/>
          <p:cNvSpPr/>
          <p:nvPr/>
        </p:nvSpPr>
        <p:spPr>
          <a:xfrm>
            <a:off x="1033271" y="4498848"/>
            <a:ext cx="2029968" cy="640080"/>
          </a:xfrm>
          <a:prstGeom prst="roundRect">
            <a:avLst>
              <a:gd name="adj" fmla="val 12000"/>
            </a:avLst>
          </a:prstGeom>
          <a:solidFill>
            <a:srgbClr val="FFF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Decide"/>
          <p:cNvSpPr txBox="1"/>
          <p:nvPr/>
        </p:nvSpPr>
        <p:spPr>
          <a:xfrm>
            <a:off x="1124712" y="4553712"/>
            <a:ext cx="1847088" cy="530352"/>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2000" b="1">
                <a:solidFill>
                  <a:srgbClr val="A96A16"/>
                </a:solidFill>
                <a:latin typeface="Aptos"/>
              </a:rPr>
              <a:t>Decide</a:t>
            </a:r>
          </a:p>
        </p:txBody>
      </p:sp>
      <p:sp>
        <p:nvSpPr>
          <p:cNvPr id="22" name="Rounded Rectangle 21"/>
          <p:cNvSpPr/>
          <p:nvPr/>
        </p:nvSpPr>
        <p:spPr>
          <a:xfrm>
            <a:off x="4626864" y="4498848"/>
            <a:ext cx="2029968" cy="640080"/>
          </a:xfrm>
          <a:prstGeom prst="roundRect">
            <a:avLst>
              <a:gd name="adj" fmla="val 12000"/>
            </a:avLst>
          </a:prstGeom>
          <a:solidFill>
            <a:srgbClr val="F1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 Act"/>
          <p:cNvSpPr txBox="1"/>
          <p:nvPr/>
        </p:nvSpPr>
        <p:spPr>
          <a:xfrm>
            <a:off x="4718303" y="4553712"/>
            <a:ext cx="1847088" cy="530352"/>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2000" b="1">
                <a:solidFill>
                  <a:srgbClr val="7751A8"/>
                </a:solidFill>
                <a:latin typeface="Aptos"/>
              </a:rPr>
              <a:t>Act</a:t>
            </a:r>
          </a:p>
        </p:txBody>
      </p:sp>
      <p:sp>
        <p:nvSpPr>
          <p:cNvPr id="24" name="Rounded Rectangle 23"/>
          <p:cNvSpPr/>
          <p:nvPr/>
        </p:nvSpPr>
        <p:spPr>
          <a:xfrm>
            <a:off x="2852928" y="3282696"/>
            <a:ext cx="2359152" cy="941832"/>
          </a:xfrm>
          <a:prstGeom prst="roundRect">
            <a:avLst>
              <a:gd name="adj" fmla="val 12000"/>
            </a:avLst>
          </a:prstGeom>
          <a:solidFill>
            <a:srgbClr val="17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 Manager"/>
          <p:cNvSpPr txBox="1"/>
          <p:nvPr/>
        </p:nvSpPr>
        <p:spPr>
          <a:xfrm>
            <a:off x="2962656" y="3383280"/>
            <a:ext cx="2139696" cy="438912"/>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2500" b="1">
                <a:solidFill>
                  <a:srgbClr val="FFFFFF"/>
                </a:solidFill>
                <a:latin typeface="Aptos"/>
              </a:rPr>
              <a:t>Manager</a:t>
            </a:r>
          </a:p>
        </p:txBody>
      </p:sp>
      <p:sp>
        <p:nvSpPr>
          <p:cNvPr id="26" name="Text: chooses the next turn"/>
          <p:cNvSpPr txBox="1"/>
          <p:nvPr/>
        </p:nvSpPr>
        <p:spPr>
          <a:xfrm>
            <a:off x="2962656" y="3822191"/>
            <a:ext cx="2139696" cy="219456"/>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1200" b="0">
                <a:solidFill>
                  <a:srgbClr val="FFFFFF"/>
                </a:solidFill>
                <a:latin typeface="Aptos"/>
              </a:rPr>
              <a:t>chooses the next turn</a:t>
            </a:r>
          </a:p>
        </p:txBody>
      </p:sp>
      <p:sp>
        <p:nvSpPr>
          <p:cNvPr id="27" name="Text: Roles illustrate possibilities—not a required cast or execut"/>
          <p:cNvSpPr txBox="1"/>
          <p:nvPr/>
        </p:nvSpPr>
        <p:spPr>
          <a:xfrm>
            <a:off x="1024128" y="5257800"/>
            <a:ext cx="5870448" cy="210312"/>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1100" b="0">
                <a:solidFill>
                  <a:srgbClr val="52647B"/>
                </a:solidFill>
                <a:latin typeface="Aptos"/>
              </a:rPr>
              <a:t>Roles illustrate possibilities—not a required cast or execution order.</a:t>
            </a:r>
          </a:p>
        </p:txBody>
      </p:sp>
      <p:sp>
        <p:nvSpPr>
          <p:cNvPr id="28" name="Rectangle 27"/>
          <p:cNvSpPr/>
          <p:nvPr/>
        </p:nvSpPr>
        <p:spPr>
          <a:xfrm>
            <a:off x="7744968" y="2212848"/>
            <a:ext cx="54864" cy="758952"/>
          </a:xfrm>
          <a:prstGeom prst="rect">
            <a:avLst/>
          </a:prstGeom>
          <a:solidFill>
            <a:srgbClr val="4263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 A conversation"/>
          <p:cNvSpPr txBox="1"/>
          <p:nvPr/>
        </p:nvSpPr>
        <p:spPr>
          <a:xfrm>
            <a:off x="7982712" y="2167128"/>
            <a:ext cx="3355848" cy="374904"/>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2200" b="1">
                <a:solidFill>
                  <a:srgbClr val="172B46"/>
                </a:solidFill>
                <a:latin typeface="Aptos"/>
              </a:rPr>
              <a:t>A conversation</a:t>
            </a:r>
          </a:p>
        </p:txBody>
      </p:sp>
      <p:sp>
        <p:nvSpPr>
          <p:cNvPr id="30" name="Text: Not a one-way pipeline."/>
          <p:cNvSpPr txBox="1"/>
          <p:nvPr/>
        </p:nvSpPr>
        <p:spPr>
          <a:xfrm>
            <a:off x="7982712" y="2596896"/>
            <a:ext cx="3355848" cy="539496"/>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1700" b="0">
                <a:solidFill>
                  <a:srgbClr val="52647B"/>
                </a:solidFill>
                <a:latin typeface="Aptos"/>
              </a:rPr>
              <a:t>Not a one-way pipeline.</a:t>
            </a:r>
          </a:p>
        </p:txBody>
      </p:sp>
      <p:sp>
        <p:nvSpPr>
          <p:cNvPr id="31" name="Rectangle 30"/>
          <p:cNvSpPr/>
          <p:nvPr/>
        </p:nvSpPr>
        <p:spPr>
          <a:xfrm>
            <a:off x="7744968" y="3337560"/>
            <a:ext cx="54864" cy="758952"/>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 One selected speaker"/>
          <p:cNvSpPr txBox="1"/>
          <p:nvPr/>
        </p:nvSpPr>
        <p:spPr>
          <a:xfrm>
            <a:off x="7982712" y="3291840"/>
            <a:ext cx="3355848" cy="374904"/>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2200" b="1">
                <a:solidFill>
                  <a:srgbClr val="172B46"/>
                </a:solidFill>
                <a:latin typeface="Aptos"/>
              </a:rPr>
              <a:t>One selected speaker</a:t>
            </a:r>
          </a:p>
        </p:txBody>
      </p:sp>
      <p:sp>
        <p:nvSpPr>
          <p:cNvPr id="33" name="Text: Not every participant at once."/>
          <p:cNvSpPr txBox="1"/>
          <p:nvPr/>
        </p:nvSpPr>
        <p:spPr>
          <a:xfrm>
            <a:off x="7982712" y="3721608"/>
            <a:ext cx="3355848" cy="539496"/>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1700" b="0">
                <a:solidFill>
                  <a:srgbClr val="52647B"/>
                </a:solidFill>
                <a:latin typeface="Aptos"/>
              </a:rPr>
              <a:t>Not every participant at once.</a:t>
            </a:r>
          </a:p>
        </p:txBody>
      </p:sp>
      <p:sp>
        <p:nvSpPr>
          <p:cNvPr id="34" name="Rectangle 33"/>
          <p:cNvSpPr/>
          <p:nvPr/>
        </p:nvSpPr>
        <p:spPr>
          <a:xfrm>
            <a:off x="7744968" y="4462272"/>
            <a:ext cx="54864" cy="758952"/>
          </a:xfrm>
          <a:prstGeom prst="rect">
            <a:avLst/>
          </a:prstGeom>
          <a:solidFill>
            <a:srgbClr val="775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 A flexible policy"/>
          <p:cNvSpPr txBox="1"/>
          <p:nvPr/>
        </p:nvSpPr>
        <p:spPr>
          <a:xfrm>
            <a:off x="7982712" y="4416552"/>
            <a:ext cx="3355848" cy="374904"/>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2200" b="1">
                <a:solidFill>
                  <a:srgbClr val="172B46"/>
                </a:solidFill>
                <a:latin typeface="Aptos"/>
              </a:rPr>
              <a:t>A flexible policy</a:t>
            </a:r>
          </a:p>
        </p:txBody>
      </p:sp>
      <p:sp>
        <p:nvSpPr>
          <p:cNvPr id="36" name="Text: Not a mandatory round robin."/>
          <p:cNvSpPr txBox="1"/>
          <p:nvPr/>
        </p:nvSpPr>
        <p:spPr>
          <a:xfrm>
            <a:off x="7982712" y="4846320"/>
            <a:ext cx="3355848" cy="539496"/>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1700" b="0">
                <a:solidFill>
                  <a:srgbClr val="52647B"/>
                </a:solidFill>
                <a:latin typeface="Aptos"/>
              </a:rPr>
              <a:t>Not a mandatory round robin.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AGENT FRAMEWORK  /  GROUP CHAT"/>
          <p:cNvSpPr txBox="1"/>
          <p:nvPr/>
        </p:nvSpPr>
        <p:spPr>
          <a:xfrm>
            <a:off x="640080" y="292608"/>
            <a:ext cx="10789920" cy="246888"/>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1100" b="1">
                <a:solidFill>
                  <a:srgbClr val="087F8C"/>
                </a:solidFill>
                <a:latin typeface="Aptos"/>
              </a:rPr>
              <a:t>AGENT FRAMEWORK  /  GROUP CHAT</a:t>
            </a:r>
          </a:p>
        </p:txBody>
      </p:sp>
      <p:sp>
        <p:nvSpPr>
          <p:cNvPr id="4" name="Text: An agent does not have to be AI-powered"/>
          <p:cNvSpPr txBox="1"/>
          <p:nvPr/>
        </p:nvSpPr>
        <p:spPr>
          <a:xfrm>
            <a:off x="640080" y="713232"/>
            <a:ext cx="10927080" cy="566928"/>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3100" b="1">
                <a:solidFill>
                  <a:srgbClr val="172B46"/>
                </a:solidFill>
                <a:latin typeface="Aptos"/>
              </a:rPr>
              <a:t>An agent does not have to be AI-powered</a:t>
            </a:r>
          </a:p>
        </p:txBody>
      </p:sp>
      <p:sp>
        <p:nvSpPr>
          <p:cNvPr id="5" name="Text: The orchestration needs a participant contract—not a particu"/>
          <p:cNvSpPr txBox="1"/>
          <p:nvPr/>
        </p:nvSpPr>
        <p:spPr>
          <a:xfrm>
            <a:off x="640080" y="1362456"/>
            <a:ext cx="10881360" cy="384048"/>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1700" b="0">
                <a:solidFill>
                  <a:srgbClr val="52647B"/>
                </a:solidFill>
                <a:latin typeface="Aptos"/>
              </a:rPr>
              <a:t>The orchestration needs a participant contract—not a particular decision maker.</a:t>
            </a:r>
          </a:p>
        </p:txBody>
      </p:sp>
      <p:sp>
        <p:nvSpPr>
          <p:cNvPr id="6" name="Rounded Rectangle 5"/>
          <p:cNvSpPr/>
          <p:nvPr/>
        </p:nvSpPr>
        <p:spPr>
          <a:xfrm>
            <a:off x="640080" y="5907024"/>
            <a:ext cx="10908792" cy="512064"/>
          </a:xfrm>
          <a:prstGeom prst="roundRect">
            <a:avLst>
              <a:gd name="adj" fmla="val 12000"/>
            </a:avLst>
          </a:prstGeom>
          <a:solidFill>
            <a:srgbClr val="17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Different implementations. One orchestration contract."/>
          <p:cNvSpPr txBox="1"/>
          <p:nvPr/>
        </p:nvSpPr>
        <p:spPr>
          <a:xfrm>
            <a:off x="832104" y="5961888"/>
            <a:ext cx="10515600" cy="374904"/>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1700" b="1">
                <a:solidFill>
                  <a:srgbClr val="FFFFFF"/>
                </a:solidFill>
                <a:latin typeface="Aptos"/>
              </a:rPr>
              <a:t>Different implementations. One orchestration contract.</a:t>
            </a:r>
          </a:p>
        </p:txBody>
      </p:sp>
      <p:sp>
        <p:nvSpPr>
          <p:cNvPr id="8" name="Text: CONCEPTS, NOT A FIXED IMPLEMENTATION"/>
          <p:cNvSpPr txBox="1"/>
          <p:nvPr/>
        </p:nvSpPr>
        <p:spPr>
          <a:xfrm>
            <a:off x="640080" y="6556248"/>
            <a:ext cx="8686800" cy="182880"/>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900" b="0">
                <a:solidFill>
                  <a:srgbClr val="52647B"/>
                </a:solidFill>
                <a:latin typeface="Aptos"/>
              </a:rPr>
              <a:t>CONCEPTS, NOT A FIXED IMPLEMENTATION</a:t>
            </a:r>
          </a:p>
        </p:txBody>
      </p:sp>
      <p:sp>
        <p:nvSpPr>
          <p:cNvPr id="9" name="Text: 02  /  05"/>
          <p:cNvSpPr txBox="1"/>
          <p:nvPr/>
        </p:nvSpPr>
        <p:spPr>
          <a:xfrm>
            <a:off x="10497312" y="6501384"/>
            <a:ext cx="1051560" cy="274320"/>
          </a:xfrm>
          <a:prstGeom prst="rect">
            <a:avLst/>
          </a:prstGeom>
          <a:noFill/>
        </p:spPr>
        <p:txBody>
          <a:bodyPr wrap="square" lIns="13716" rIns="13716" tIns="13716" bIns="13716" anchor="ctr">
            <a:spAutoFit/>
          </a:bodyPr>
          <a:lstStyle/>
          <a:p>
            <a:pPr algn="r">
              <a:lnSpc>
                <a:spcPct val="108000"/>
              </a:lnSpc>
              <a:spcBef>
                <a:spcPts val="0"/>
              </a:spcBef>
              <a:spcAft>
                <a:spcPts val="0"/>
              </a:spcAft>
            </a:pPr>
            <a:r>
              <a:rPr sz="1100" b="0">
                <a:solidFill>
                  <a:srgbClr val="52647B"/>
                </a:solidFill>
                <a:latin typeface="Aptos"/>
              </a:rPr>
              <a:t>02  /  05</a:t>
            </a:r>
          </a:p>
        </p:txBody>
      </p:sp>
      <p:sp>
        <p:nvSpPr>
          <p:cNvPr id="10" name="Rounded Rectangle 9"/>
          <p:cNvSpPr/>
          <p:nvPr/>
        </p:nvSpPr>
        <p:spPr>
          <a:xfrm>
            <a:off x="2048256" y="1901952"/>
            <a:ext cx="8101583" cy="466344"/>
          </a:xfrm>
          <a:prstGeom prst="roundRect">
            <a:avLst>
              <a:gd name="adj" fmla="val 12000"/>
            </a:avLst>
          </a:prstGeom>
          <a:solidFill>
            <a:srgbClr val="ED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Messages in  →  one participant turn  →  response out"/>
          <p:cNvSpPr txBox="1"/>
          <p:nvPr/>
        </p:nvSpPr>
        <p:spPr>
          <a:xfrm>
            <a:off x="2139696" y="1956816"/>
            <a:ext cx="7918704" cy="356616"/>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1800" b="0">
                <a:solidFill>
                  <a:srgbClr val="172B46"/>
                </a:solidFill>
                <a:latin typeface="Aptos"/>
              </a:rPr>
              <a:t>Messages in  →  one participant turn  →  response out</a:t>
            </a:r>
          </a:p>
        </p:txBody>
      </p:sp>
      <p:sp>
        <p:nvSpPr>
          <p:cNvPr id="12" name="Rounded Rectangle 11"/>
          <p:cNvSpPr/>
          <p:nvPr/>
        </p:nvSpPr>
        <p:spPr>
          <a:xfrm>
            <a:off x="640080" y="2670048"/>
            <a:ext cx="3410712" cy="2953512"/>
          </a:xfrm>
          <a:prstGeom prst="roundRect">
            <a:avLst>
              <a:gd name="adj" fmla="val 12000"/>
            </a:avLst>
          </a:prstGeom>
          <a:solidFill>
            <a:srgbClr val="FFFFFF"/>
          </a:solidFill>
          <a:ln w="12700">
            <a:solidFill>
              <a:srgbClr val="CED7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2688336"/>
            <a:ext cx="3374136" cy="64008"/>
          </a:xfrm>
          <a:prstGeom prst="rect">
            <a:avLst/>
          </a:prstGeom>
          <a:solidFill>
            <a:srgbClr val="4263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AI-powered"/>
          <p:cNvSpPr txBox="1"/>
          <p:nvPr/>
        </p:nvSpPr>
        <p:spPr>
          <a:xfrm>
            <a:off x="786384" y="2935224"/>
            <a:ext cx="3118104" cy="374904"/>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2400" b="1">
                <a:solidFill>
                  <a:srgbClr val="4263D8"/>
                </a:solidFill>
                <a:latin typeface="Aptos"/>
              </a:rPr>
              <a:t>AI-powered</a:t>
            </a:r>
          </a:p>
        </p:txBody>
      </p:sp>
      <p:sp>
        <p:nvSpPr>
          <p:cNvPr id="15" name="Text: Messages"/>
          <p:cNvSpPr txBox="1"/>
          <p:nvPr/>
        </p:nvSpPr>
        <p:spPr>
          <a:xfrm>
            <a:off x="886968" y="3520440"/>
            <a:ext cx="2916936" cy="256032"/>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1600" b="0">
                <a:solidFill>
                  <a:srgbClr val="52647B"/>
                </a:solidFill>
                <a:latin typeface="Aptos"/>
              </a:rPr>
              <a:t>Messages</a:t>
            </a:r>
          </a:p>
        </p:txBody>
      </p:sp>
      <p:cxnSp>
        <p:nvCxnSpPr>
          <p:cNvPr id="16" name="Connector 15"/>
          <p:cNvCxnSpPr/>
          <p:nvPr/>
        </p:nvCxnSpPr>
        <p:spPr>
          <a:xfrm>
            <a:off x="2345436" y="3822191"/>
            <a:ext cx="0" cy="192024"/>
          </a:xfrm>
          <a:prstGeom prst="line">
            <a:avLst/>
          </a:prstGeom>
          <a:ln w="22860">
            <a:solidFill>
              <a:srgbClr val="4263D8"/>
            </a:solidFill>
            <a:tailEnd type="triangle" w="sm" len="sm"/>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088136" y="4041648"/>
            <a:ext cx="2514600" cy="539496"/>
          </a:xfrm>
          <a:prstGeom prst="roundRect">
            <a:avLst>
              <a:gd name="adj" fmla="val 12000"/>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Model"/>
          <p:cNvSpPr txBox="1"/>
          <p:nvPr/>
        </p:nvSpPr>
        <p:spPr>
          <a:xfrm>
            <a:off x="1179576" y="4096511"/>
            <a:ext cx="2331720" cy="429768"/>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2100" b="1">
                <a:solidFill>
                  <a:srgbClr val="4263D8"/>
                </a:solidFill>
                <a:latin typeface="Aptos"/>
              </a:rPr>
              <a:t>Model</a:t>
            </a:r>
          </a:p>
        </p:txBody>
      </p:sp>
      <p:cxnSp>
        <p:nvCxnSpPr>
          <p:cNvPr id="19" name="Connector 18"/>
          <p:cNvCxnSpPr/>
          <p:nvPr/>
        </p:nvCxnSpPr>
        <p:spPr>
          <a:xfrm>
            <a:off x="2345436" y="4608576"/>
            <a:ext cx="0" cy="192024"/>
          </a:xfrm>
          <a:prstGeom prst="line">
            <a:avLst/>
          </a:prstGeom>
          <a:ln w="22860">
            <a:solidFill>
              <a:srgbClr val="4263D8"/>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Text: Response"/>
          <p:cNvSpPr txBox="1"/>
          <p:nvPr/>
        </p:nvSpPr>
        <p:spPr>
          <a:xfrm>
            <a:off x="886968" y="4828032"/>
            <a:ext cx="2916936" cy="256032"/>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1600" b="0">
                <a:solidFill>
                  <a:srgbClr val="52647B"/>
                </a:solidFill>
                <a:latin typeface="Aptos"/>
              </a:rPr>
              <a:t>Response</a:t>
            </a:r>
          </a:p>
        </p:txBody>
      </p:sp>
      <p:sp>
        <p:nvSpPr>
          <p:cNvPr id="21" name="Text: Generate • critique"/>
          <p:cNvSpPr txBox="1"/>
          <p:nvPr/>
        </p:nvSpPr>
        <p:spPr>
          <a:xfrm>
            <a:off x="777240" y="5257800"/>
            <a:ext cx="3136392" cy="228600"/>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1400" b="0">
                <a:solidFill>
                  <a:srgbClr val="52647B"/>
                </a:solidFill>
                <a:latin typeface="Aptos"/>
              </a:rPr>
              <a:t>Generate • critique</a:t>
            </a:r>
          </a:p>
        </p:txBody>
      </p:sp>
      <p:sp>
        <p:nvSpPr>
          <p:cNvPr id="22" name="Rounded Rectangle 21"/>
          <p:cNvSpPr/>
          <p:nvPr/>
        </p:nvSpPr>
        <p:spPr>
          <a:xfrm>
            <a:off x="4389120" y="2670048"/>
            <a:ext cx="3410712" cy="2953512"/>
          </a:xfrm>
          <a:prstGeom prst="roundRect">
            <a:avLst>
              <a:gd name="adj" fmla="val 12000"/>
            </a:avLst>
          </a:prstGeom>
          <a:solidFill>
            <a:srgbClr val="FFFFFF"/>
          </a:solidFill>
          <a:ln w="12700">
            <a:solidFill>
              <a:srgbClr val="CED7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407407" y="2688336"/>
            <a:ext cx="3374136" cy="64008"/>
          </a:xfrm>
          <a:prstGeom prst="rect">
            <a:avLst/>
          </a:prstGeom>
          <a:solidFill>
            <a:srgbClr val="A96A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Human-backed"/>
          <p:cNvSpPr txBox="1"/>
          <p:nvPr/>
        </p:nvSpPr>
        <p:spPr>
          <a:xfrm>
            <a:off x="4535424" y="2935224"/>
            <a:ext cx="3118104" cy="374904"/>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2400" b="1">
                <a:solidFill>
                  <a:srgbClr val="A96A16"/>
                </a:solidFill>
                <a:latin typeface="Aptos"/>
              </a:rPr>
              <a:t>Human-backed</a:t>
            </a:r>
          </a:p>
        </p:txBody>
      </p:sp>
      <p:sp>
        <p:nvSpPr>
          <p:cNvPr id="25" name="Text: Messages"/>
          <p:cNvSpPr txBox="1"/>
          <p:nvPr/>
        </p:nvSpPr>
        <p:spPr>
          <a:xfrm>
            <a:off x="4636008" y="3520440"/>
            <a:ext cx="2916936" cy="256032"/>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1600" b="0">
                <a:solidFill>
                  <a:srgbClr val="52647B"/>
                </a:solidFill>
                <a:latin typeface="Aptos"/>
              </a:rPr>
              <a:t>Messages</a:t>
            </a:r>
          </a:p>
        </p:txBody>
      </p:sp>
      <p:cxnSp>
        <p:nvCxnSpPr>
          <p:cNvPr id="26" name="Connector 25"/>
          <p:cNvCxnSpPr/>
          <p:nvPr/>
        </p:nvCxnSpPr>
        <p:spPr>
          <a:xfrm>
            <a:off x="6094476" y="3822191"/>
            <a:ext cx="0" cy="192024"/>
          </a:xfrm>
          <a:prstGeom prst="line">
            <a:avLst/>
          </a:prstGeom>
          <a:ln w="22860">
            <a:solidFill>
              <a:srgbClr val="A96A16"/>
            </a:solidFill>
            <a:tailEnd type="triangle" w="sm" len="sm"/>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4837176" y="4041648"/>
            <a:ext cx="2514600" cy="539496"/>
          </a:xfrm>
          <a:prstGeom prst="roundRect">
            <a:avLst>
              <a:gd name="adj" fmla="val 12000"/>
            </a:avLst>
          </a:prstGeom>
          <a:solidFill>
            <a:srgbClr val="FFF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 Person"/>
          <p:cNvSpPr txBox="1"/>
          <p:nvPr/>
        </p:nvSpPr>
        <p:spPr>
          <a:xfrm>
            <a:off x="4928616" y="4096511"/>
            <a:ext cx="2331720" cy="429768"/>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2100" b="1">
                <a:solidFill>
                  <a:srgbClr val="A96A16"/>
                </a:solidFill>
                <a:latin typeface="Aptos"/>
              </a:rPr>
              <a:t>Person</a:t>
            </a:r>
          </a:p>
        </p:txBody>
      </p:sp>
      <p:cxnSp>
        <p:nvCxnSpPr>
          <p:cNvPr id="29" name="Connector 28"/>
          <p:cNvCxnSpPr/>
          <p:nvPr/>
        </p:nvCxnSpPr>
        <p:spPr>
          <a:xfrm>
            <a:off x="6094476" y="4608576"/>
            <a:ext cx="0" cy="192024"/>
          </a:xfrm>
          <a:prstGeom prst="line">
            <a:avLst/>
          </a:prstGeom>
          <a:ln w="22860">
            <a:solidFill>
              <a:srgbClr val="A96A16"/>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Text: Response"/>
          <p:cNvSpPr txBox="1"/>
          <p:nvPr/>
        </p:nvSpPr>
        <p:spPr>
          <a:xfrm>
            <a:off x="4636008" y="4828032"/>
            <a:ext cx="2916936" cy="256032"/>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1600" b="0">
                <a:solidFill>
                  <a:srgbClr val="52647B"/>
                </a:solidFill>
                <a:latin typeface="Aptos"/>
              </a:rPr>
              <a:t>Response</a:t>
            </a:r>
          </a:p>
        </p:txBody>
      </p:sp>
      <p:sp>
        <p:nvSpPr>
          <p:cNvPr id="31" name="Text: Approve • reject • advise"/>
          <p:cNvSpPr txBox="1"/>
          <p:nvPr/>
        </p:nvSpPr>
        <p:spPr>
          <a:xfrm>
            <a:off x="4526280" y="5257800"/>
            <a:ext cx="3136392" cy="228600"/>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1400" b="0">
                <a:solidFill>
                  <a:srgbClr val="52647B"/>
                </a:solidFill>
                <a:latin typeface="Aptos"/>
              </a:rPr>
              <a:t>Approve • reject • advise</a:t>
            </a:r>
          </a:p>
        </p:txBody>
      </p:sp>
      <p:sp>
        <p:nvSpPr>
          <p:cNvPr id="32" name="Rounded Rectangle 31"/>
          <p:cNvSpPr/>
          <p:nvPr/>
        </p:nvSpPr>
        <p:spPr>
          <a:xfrm>
            <a:off x="8138160" y="2670048"/>
            <a:ext cx="3410712" cy="2953512"/>
          </a:xfrm>
          <a:prstGeom prst="roundRect">
            <a:avLst>
              <a:gd name="adj" fmla="val 12000"/>
            </a:avLst>
          </a:prstGeom>
          <a:solidFill>
            <a:srgbClr val="FFFFFF"/>
          </a:solidFill>
          <a:ln w="12700">
            <a:solidFill>
              <a:srgbClr val="CED7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56448" y="2688336"/>
            <a:ext cx="3374136" cy="64008"/>
          </a:xfrm>
          <a:prstGeom prst="rect">
            <a:avLst/>
          </a:prstGeom>
          <a:solidFill>
            <a:srgbClr val="7751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 Code-backed"/>
          <p:cNvSpPr txBox="1"/>
          <p:nvPr/>
        </p:nvSpPr>
        <p:spPr>
          <a:xfrm>
            <a:off x="8284464" y="2935224"/>
            <a:ext cx="3118104" cy="374904"/>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2400" b="1">
                <a:solidFill>
                  <a:srgbClr val="7751A8"/>
                </a:solidFill>
                <a:latin typeface="Aptos"/>
              </a:rPr>
              <a:t>Code-backed</a:t>
            </a:r>
          </a:p>
        </p:txBody>
      </p:sp>
      <p:sp>
        <p:nvSpPr>
          <p:cNvPr id="35" name="Text: Messages"/>
          <p:cNvSpPr txBox="1"/>
          <p:nvPr/>
        </p:nvSpPr>
        <p:spPr>
          <a:xfrm>
            <a:off x="8385048" y="3520440"/>
            <a:ext cx="2916936" cy="256032"/>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1600" b="0">
                <a:solidFill>
                  <a:srgbClr val="52647B"/>
                </a:solidFill>
                <a:latin typeface="Aptos"/>
              </a:rPr>
              <a:t>Messages</a:t>
            </a:r>
          </a:p>
        </p:txBody>
      </p:sp>
      <p:cxnSp>
        <p:nvCxnSpPr>
          <p:cNvPr id="36" name="Connector 35"/>
          <p:cNvCxnSpPr/>
          <p:nvPr/>
        </p:nvCxnSpPr>
        <p:spPr>
          <a:xfrm>
            <a:off x="9843516" y="3822191"/>
            <a:ext cx="0" cy="192024"/>
          </a:xfrm>
          <a:prstGeom prst="line">
            <a:avLst/>
          </a:prstGeom>
          <a:ln w="22860">
            <a:solidFill>
              <a:srgbClr val="7751A8"/>
            </a:solidFill>
            <a:tailEnd type="triangle" w="sm" len="sm"/>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8586216" y="4041648"/>
            <a:ext cx="2514600" cy="539496"/>
          </a:xfrm>
          <a:prstGeom prst="roundRect">
            <a:avLst>
              <a:gd name="adj" fmla="val 12000"/>
            </a:avLst>
          </a:prstGeom>
          <a:solidFill>
            <a:srgbClr val="F1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 Rules / code"/>
          <p:cNvSpPr txBox="1"/>
          <p:nvPr/>
        </p:nvSpPr>
        <p:spPr>
          <a:xfrm>
            <a:off x="8677656" y="4096511"/>
            <a:ext cx="2331720" cy="429768"/>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2100" b="1">
                <a:solidFill>
                  <a:srgbClr val="7751A8"/>
                </a:solidFill>
                <a:latin typeface="Aptos"/>
              </a:rPr>
              <a:t>Rules / code</a:t>
            </a:r>
          </a:p>
        </p:txBody>
      </p:sp>
      <p:cxnSp>
        <p:nvCxnSpPr>
          <p:cNvPr id="39" name="Connector 38"/>
          <p:cNvCxnSpPr/>
          <p:nvPr/>
        </p:nvCxnSpPr>
        <p:spPr>
          <a:xfrm>
            <a:off x="9843516" y="4608576"/>
            <a:ext cx="0" cy="192024"/>
          </a:xfrm>
          <a:prstGeom prst="line">
            <a:avLst/>
          </a:prstGeom>
          <a:ln w="22860">
            <a:solidFill>
              <a:srgbClr val="7751A8"/>
            </a:solidFill>
            <a:tailEnd type="triangle" w="sm" len="sm"/>
          </a:ln>
        </p:spPr>
        <p:style>
          <a:lnRef idx="2">
            <a:schemeClr val="accent1"/>
          </a:lnRef>
          <a:fillRef idx="0">
            <a:schemeClr val="accent1"/>
          </a:fillRef>
          <a:effectRef idx="1">
            <a:schemeClr val="accent1"/>
          </a:effectRef>
          <a:fontRef idx="minor">
            <a:schemeClr val="tx1"/>
          </a:fontRef>
        </p:style>
      </p:cxnSp>
      <p:sp>
        <p:nvSpPr>
          <p:cNvPr id="40" name="Text: Response"/>
          <p:cNvSpPr txBox="1"/>
          <p:nvPr/>
        </p:nvSpPr>
        <p:spPr>
          <a:xfrm>
            <a:off x="8385048" y="4828032"/>
            <a:ext cx="2916936" cy="256032"/>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1600" b="0">
                <a:solidFill>
                  <a:srgbClr val="52647B"/>
                </a:solidFill>
                <a:latin typeface="Aptos"/>
              </a:rPr>
              <a:t>Response</a:t>
            </a:r>
          </a:p>
        </p:txBody>
      </p:sp>
      <p:sp>
        <p:nvSpPr>
          <p:cNvPr id="41" name="Text: Validate • calculate"/>
          <p:cNvSpPr txBox="1"/>
          <p:nvPr/>
        </p:nvSpPr>
        <p:spPr>
          <a:xfrm>
            <a:off x="8275320" y="5257800"/>
            <a:ext cx="3136392" cy="228600"/>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1400" b="0">
                <a:solidFill>
                  <a:srgbClr val="52647B"/>
                </a:solidFill>
                <a:latin typeface="Aptos"/>
              </a:rPr>
              <a:t>Validate • calculate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AGENT FRAMEWORK  /  GROUP CHAT"/>
          <p:cNvSpPr txBox="1"/>
          <p:nvPr/>
        </p:nvSpPr>
        <p:spPr>
          <a:xfrm>
            <a:off x="640080" y="292608"/>
            <a:ext cx="10789920" cy="246888"/>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1100" b="1">
                <a:solidFill>
                  <a:srgbClr val="087F8C"/>
                </a:solidFill>
                <a:latin typeface="Aptos"/>
              </a:rPr>
              <a:t>AGENT FRAMEWORK  /  GROUP CHAT</a:t>
            </a:r>
          </a:p>
        </p:txBody>
      </p:sp>
      <p:sp>
        <p:nvSpPr>
          <p:cNvPr id="4" name="Text: A human can take a turn—not just approve a tool"/>
          <p:cNvSpPr txBox="1"/>
          <p:nvPr/>
        </p:nvSpPr>
        <p:spPr>
          <a:xfrm>
            <a:off x="640080" y="713232"/>
            <a:ext cx="10927080" cy="566928"/>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2900" b="1">
                <a:solidFill>
                  <a:srgbClr val="172B46"/>
                </a:solidFill>
                <a:latin typeface="Aptos"/>
              </a:rPr>
              <a:t>A human can take a turn—not just approve a tool</a:t>
            </a:r>
          </a:p>
        </p:txBody>
      </p:sp>
      <p:sp>
        <p:nvSpPr>
          <p:cNvPr id="5" name="Text: Define whose decision is authoritative, and what that decisi"/>
          <p:cNvSpPr txBox="1"/>
          <p:nvPr/>
        </p:nvSpPr>
        <p:spPr>
          <a:xfrm>
            <a:off x="640080" y="1362456"/>
            <a:ext cx="10881360" cy="384048"/>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1700" b="0">
                <a:solidFill>
                  <a:srgbClr val="52647B"/>
                </a:solidFill>
                <a:latin typeface="Aptos"/>
              </a:rPr>
              <a:t>Define whose decision is authoritative, and what that decision controls.</a:t>
            </a:r>
          </a:p>
        </p:txBody>
      </p:sp>
      <p:sp>
        <p:nvSpPr>
          <p:cNvPr id="6" name="Rounded Rectangle 5"/>
          <p:cNvSpPr/>
          <p:nvPr/>
        </p:nvSpPr>
        <p:spPr>
          <a:xfrm>
            <a:off x="640080" y="5907024"/>
            <a:ext cx="10908792" cy="512064"/>
          </a:xfrm>
          <a:prstGeom prst="roundRect">
            <a:avLst>
              <a:gd name="adj" fmla="val 12000"/>
            </a:avLst>
          </a:prstGeom>
          <a:solidFill>
            <a:srgbClr val="17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Advice is not authorization. Enforce the chosen authority po"/>
          <p:cNvSpPr txBox="1"/>
          <p:nvPr/>
        </p:nvSpPr>
        <p:spPr>
          <a:xfrm>
            <a:off x="832104" y="5961888"/>
            <a:ext cx="10515600" cy="374904"/>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1700" b="1">
                <a:solidFill>
                  <a:srgbClr val="FFFFFF"/>
                </a:solidFill>
                <a:latin typeface="Aptos"/>
              </a:rPr>
              <a:t>Advice is not authorization. Enforce the chosen authority policy.</a:t>
            </a:r>
          </a:p>
        </p:txBody>
      </p:sp>
      <p:sp>
        <p:nvSpPr>
          <p:cNvPr id="8" name="Text: CONCEPTS, NOT A FIXED IMPLEMENTATION"/>
          <p:cNvSpPr txBox="1"/>
          <p:nvPr/>
        </p:nvSpPr>
        <p:spPr>
          <a:xfrm>
            <a:off x="640080" y="6556248"/>
            <a:ext cx="8686800" cy="182880"/>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900" b="0">
                <a:solidFill>
                  <a:srgbClr val="52647B"/>
                </a:solidFill>
                <a:latin typeface="Aptos"/>
              </a:rPr>
              <a:t>CONCEPTS, NOT A FIXED IMPLEMENTATION</a:t>
            </a:r>
          </a:p>
        </p:txBody>
      </p:sp>
      <p:sp>
        <p:nvSpPr>
          <p:cNvPr id="9" name="Text: 03  /  05"/>
          <p:cNvSpPr txBox="1"/>
          <p:nvPr/>
        </p:nvSpPr>
        <p:spPr>
          <a:xfrm>
            <a:off x="10497312" y="6501384"/>
            <a:ext cx="1051560" cy="274320"/>
          </a:xfrm>
          <a:prstGeom prst="rect">
            <a:avLst/>
          </a:prstGeom>
          <a:noFill/>
        </p:spPr>
        <p:txBody>
          <a:bodyPr wrap="square" lIns="13716" rIns="13716" tIns="13716" bIns="13716" anchor="ctr">
            <a:spAutoFit/>
          </a:bodyPr>
          <a:lstStyle/>
          <a:p>
            <a:pPr algn="r">
              <a:lnSpc>
                <a:spcPct val="108000"/>
              </a:lnSpc>
              <a:spcBef>
                <a:spcPts val="0"/>
              </a:spcBef>
              <a:spcAft>
                <a:spcPts val="0"/>
              </a:spcAft>
            </a:pPr>
            <a:r>
              <a:rPr sz="1100" b="0">
                <a:solidFill>
                  <a:srgbClr val="52647B"/>
                </a:solidFill>
                <a:latin typeface="Aptos"/>
              </a:rPr>
              <a:t>03  /  05</a:t>
            </a:r>
          </a:p>
        </p:txBody>
      </p:sp>
      <p:sp>
        <p:nvSpPr>
          <p:cNvPr id="10" name="Rounded Rectangle 9"/>
          <p:cNvSpPr/>
          <p:nvPr/>
        </p:nvSpPr>
        <p:spPr>
          <a:xfrm>
            <a:off x="640080" y="1938528"/>
            <a:ext cx="6675120" cy="3657600"/>
          </a:xfrm>
          <a:prstGeom prst="roundRect">
            <a:avLst>
              <a:gd name="adj" fmla="val 12000"/>
            </a:avLst>
          </a:prstGeom>
          <a:solidFill>
            <a:srgbClr val="FFFFFF"/>
          </a:solidFill>
          <a:ln w="12700">
            <a:solidFill>
              <a:srgbClr val="CED7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CONVERSATION-LEVEL DECISION"/>
          <p:cNvSpPr txBox="1"/>
          <p:nvPr/>
        </p:nvSpPr>
        <p:spPr>
          <a:xfrm>
            <a:off x="914400" y="2121408"/>
            <a:ext cx="6126480" cy="265176"/>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1100" b="1">
                <a:solidFill>
                  <a:srgbClr val="52647B"/>
                </a:solidFill>
                <a:latin typeface="Aptos"/>
              </a:rPr>
              <a:t>CONVERSATION-LEVEL DECISION</a:t>
            </a:r>
          </a:p>
        </p:txBody>
      </p:sp>
      <p:cxnSp>
        <p:nvCxnSpPr>
          <p:cNvPr id="12" name="Connector 11"/>
          <p:cNvCxnSpPr/>
          <p:nvPr/>
        </p:nvCxnSpPr>
        <p:spPr>
          <a:xfrm>
            <a:off x="2587752" y="3108960"/>
            <a:ext cx="384048" cy="0"/>
          </a:xfrm>
          <a:prstGeom prst="line">
            <a:avLst/>
          </a:prstGeom>
          <a:ln w="22860">
            <a:solidFill>
              <a:srgbClr val="52647B"/>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453128" y="3108960"/>
            <a:ext cx="685800" cy="0"/>
          </a:xfrm>
          <a:prstGeom prst="line">
            <a:avLst/>
          </a:prstGeom>
          <a:ln w="22860">
            <a:solidFill>
              <a:srgbClr val="087F8C"/>
            </a:solidFill>
            <a:tailEnd type="triangle" w="sm" len="sm"/>
          </a:ln>
        </p:spPr>
        <p:style>
          <a:lnRef idx="2">
            <a:schemeClr val="accent1"/>
          </a:lnRef>
          <a:fillRef idx="0">
            <a:schemeClr val="accent1"/>
          </a:fillRef>
          <a:effectRef idx="1">
            <a:schemeClr val="accent1"/>
          </a:effectRef>
          <a:fontRef idx="minor">
            <a:schemeClr val="tx1"/>
          </a:fontRef>
        </p:style>
      </p:cxnSp>
      <p:sp>
        <p:nvSpPr>
          <p:cNvPr id="14" name="Text: Approve"/>
          <p:cNvSpPr txBox="1"/>
          <p:nvPr/>
        </p:nvSpPr>
        <p:spPr>
          <a:xfrm>
            <a:off x="4517136" y="2743200"/>
            <a:ext cx="758952" cy="256032"/>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1300" b="0">
                <a:solidFill>
                  <a:srgbClr val="087F8C"/>
                </a:solidFill>
                <a:latin typeface="Aptos"/>
              </a:rPr>
              <a:t>Approve</a:t>
            </a:r>
          </a:p>
        </p:txBody>
      </p:sp>
      <p:cxnSp>
        <p:nvCxnSpPr>
          <p:cNvPr id="15" name="Connector 14"/>
          <p:cNvCxnSpPr/>
          <p:nvPr/>
        </p:nvCxnSpPr>
        <p:spPr>
          <a:xfrm>
            <a:off x="3721608" y="3803904"/>
            <a:ext cx="0" cy="612648"/>
          </a:xfrm>
          <a:prstGeom prst="line">
            <a:avLst/>
          </a:prstGeom>
          <a:ln w="22860">
            <a:solidFill>
              <a:srgbClr val="A96A16"/>
            </a:solidFill>
            <a:tailEnd type="triangle" w="sm" len="sm"/>
          </a:ln>
        </p:spPr>
        <p:style>
          <a:lnRef idx="2">
            <a:schemeClr val="accent1"/>
          </a:lnRef>
          <a:fillRef idx="0">
            <a:schemeClr val="accent1"/>
          </a:fillRef>
          <a:effectRef idx="1">
            <a:schemeClr val="accent1"/>
          </a:effectRef>
          <a:fontRef idx="minor">
            <a:schemeClr val="tx1"/>
          </a:fontRef>
        </p:style>
      </p:cxnSp>
      <p:sp>
        <p:nvSpPr>
          <p:cNvPr id="16" name="Text: Reject"/>
          <p:cNvSpPr txBox="1"/>
          <p:nvPr/>
        </p:nvSpPr>
        <p:spPr>
          <a:xfrm>
            <a:off x="3840480" y="4023360"/>
            <a:ext cx="932688" cy="274320"/>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1300" b="0">
                <a:solidFill>
                  <a:srgbClr val="A96A16"/>
                </a:solidFill>
                <a:latin typeface="Aptos"/>
              </a:rPr>
              <a:t>Reject</a:t>
            </a:r>
          </a:p>
        </p:txBody>
      </p:sp>
      <p:cxnSp>
        <p:nvCxnSpPr>
          <p:cNvPr id="17" name="Connector 16"/>
          <p:cNvCxnSpPr/>
          <p:nvPr/>
        </p:nvCxnSpPr>
        <p:spPr>
          <a:xfrm flipH="1">
            <a:off x="1810512" y="4754880"/>
            <a:ext cx="996696" cy="0"/>
          </a:xfrm>
          <a:prstGeom prst="line">
            <a:avLst/>
          </a:prstGeom>
          <a:ln w="22860">
            <a:solidFill>
              <a:srgbClr val="A96A1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1810512" y="3474720"/>
            <a:ext cx="0" cy="1280160"/>
          </a:xfrm>
          <a:prstGeom prst="line">
            <a:avLst/>
          </a:prstGeom>
          <a:ln w="22860">
            <a:solidFill>
              <a:srgbClr val="A96A16"/>
            </a:solidFill>
            <a:tailEnd type="triangle" w="sm" len="sm"/>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60120" y="2752344"/>
            <a:ext cx="1645920" cy="713232"/>
          </a:xfrm>
          <a:prstGeom prst="roundRect">
            <a:avLst>
              <a:gd name="adj" fmla="val 12000"/>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Proposal"/>
          <p:cNvSpPr txBox="1"/>
          <p:nvPr/>
        </p:nvSpPr>
        <p:spPr>
          <a:xfrm>
            <a:off x="1051560" y="2807208"/>
            <a:ext cx="1463040" cy="603504"/>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2000" b="1">
                <a:solidFill>
                  <a:srgbClr val="4263D8"/>
                </a:solidFill>
                <a:latin typeface="Aptos"/>
              </a:rPr>
              <a:t>Proposal</a:t>
            </a:r>
          </a:p>
        </p:txBody>
      </p:sp>
      <p:sp>
        <p:nvSpPr>
          <p:cNvPr id="21" name="Diamond 20"/>
          <p:cNvSpPr/>
          <p:nvPr/>
        </p:nvSpPr>
        <p:spPr>
          <a:xfrm>
            <a:off x="2990088" y="2441448"/>
            <a:ext cx="1463040" cy="1353312"/>
          </a:xfrm>
          <a:prstGeom prst="diamond">
            <a:avLst/>
          </a:prstGeom>
          <a:solidFill>
            <a:srgbClr val="FFF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 Human&#10;decision"/>
          <p:cNvSpPr txBox="1"/>
          <p:nvPr/>
        </p:nvSpPr>
        <p:spPr>
          <a:xfrm>
            <a:off x="3182112" y="2779776"/>
            <a:ext cx="1078992" cy="649224"/>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1800" b="1">
                <a:solidFill>
                  <a:srgbClr val="A96A16"/>
                </a:solidFill>
                <a:latin typeface="Aptos"/>
              </a:rPr>
              <a:t>Human</a:t>
            </a:r>
          </a:p>
          <a:p>
            <a:pPr algn="ctr">
              <a:lnSpc>
                <a:spcPct val="108000"/>
              </a:lnSpc>
              <a:spcBef>
                <a:spcPts val="0"/>
              </a:spcBef>
              <a:spcAft>
                <a:spcPts val="0"/>
              </a:spcAft>
            </a:pPr>
            <a:r>
              <a:rPr sz="1800" b="1">
                <a:solidFill>
                  <a:srgbClr val="A96A16"/>
                </a:solidFill>
                <a:latin typeface="Aptos"/>
              </a:rPr>
              <a:t>decision</a:t>
            </a:r>
          </a:p>
        </p:txBody>
      </p:sp>
      <p:sp>
        <p:nvSpPr>
          <p:cNvPr id="23" name="Rounded Rectangle 22"/>
          <p:cNvSpPr/>
          <p:nvPr/>
        </p:nvSpPr>
        <p:spPr>
          <a:xfrm>
            <a:off x="5166360" y="2752344"/>
            <a:ext cx="1773936" cy="713232"/>
          </a:xfrm>
          <a:prstGeom prst="roundRect">
            <a:avLst>
              <a:gd name="adj" fmla="val 12000"/>
            </a:avLst>
          </a:prstGeom>
          <a:solidFill>
            <a:srgbClr val="E5F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Continue"/>
          <p:cNvSpPr txBox="1"/>
          <p:nvPr/>
        </p:nvSpPr>
        <p:spPr>
          <a:xfrm>
            <a:off x="5257800" y="2807208"/>
            <a:ext cx="1591056" cy="603504"/>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2000" b="1">
                <a:solidFill>
                  <a:srgbClr val="087F8C"/>
                </a:solidFill>
                <a:latin typeface="Aptos"/>
              </a:rPr>
              <a:t>Continue</a:t>
            </a:r>
          </a:p>
        </p:txBody>
      </p:sp>
      <p:sp>
        <p:nvSpPr>
          <p:cNvPr id="25" name="Rounded Rectangle 24"/>
          <p:cNvSpPr/>
          <p:nvPr/>
        </p:nvSpPr>
        <p:spPr>
          <a:xfrm>
            <a:off x="2807208" y="4434840"/>
            <a:ext cx="1828800" cy="640080"/>
          </a:xfrm>
          <a:prstGeom prst="roundRect">
            <a:avLst>
              <a:gd name="adj" fmla="val 12000"/>
            </a:avLst>
          </a:prstGeom>
          <a:solidFill>
            <a:srgbClr val="FFF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Revise"/>
          <p:cNvSpPr txBox="1"/>
          <p:nvPr/>
        </p:nvSpPr>
        <p:spPr>
          <a:xfrm>
            <a:off x="2898648" y="4489703"/>
            <a:ext cx="1645920" cy="530352"/>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2000" b="1">
                <a:solidFill>
                  <a:srgbClr val="A96A16"/>
                </a:solidFill>
                <a:latin typeface="Aptos"/>
              </a:rPr>
              <a:t>Revise</a:t>
            </a:r>
          </a:p>
        </p:txBody>
      </p:sp>
      <p:sp>
        <p:nvSpPr>
          <p:cNvPr id="27" name="Text: A rejection can trigger another proposal."/>
          <p:cNvSpPr txBox="1"/>
          <p:nvPr/>
        </p:nvSpPr>
        <p:spPr>
          <a:xfrm>
            <a:off x="914400" y="5230368"/>
            <a:ext cx="6126480" cy="219456"/>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1400" b="0">
                <a:solidFill>
                  <a:srgbClr val="52647B"/>
                </a:solidFill>
                <a:latin typeface="Aptos"/>
              </a:rPr>
              <a:t>A rejection can trigger another proposal.</a:t>
            </a:r>
          </a:p>
        </p:txBody>
      </p:sp>
      <p:sp>
        <p:nvSpPr>
          <p:cNvPr id="28" name="Rounded Rectangle 27"/>
          <p:cNvSpPr/>
          <p:nvPr/>
        </p:nvSpPr>
        <p:spPr>
          <a:xfrm>
            <a:off x="7644383" y="1938528"/>
            <a:ext cx="3904487" cy="1682496"/>
          </a:xfrm>
          <a:prstGeom prst="roundRect">
            <a:avLst>
              <a:gd name="adj" fmla="val 12000"/>
            </a:avLst>
          </a:prstGeom>
          <a:solidFill>
            <a:srgbClr val="FFF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 Human participant"/>
          <p:cNvSpPr txBox="1"/>
          <p:nvPr/>
        </p:nvSpPr>
        <p:spPr>
          <a:xfrm>
            <a:off x="7891272" y="2130552"/>
            <a:ext cx="3410712" cy="384048"/>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2300" b="1">
                <a:solidFill>
                  <a:srgbClr val="A96A16"/>
                </a:solidFill>
                <a:latin typeface="Aptos"/>
              </a:rPr>
              <a:t>Human participant</a:t>
            </a:r>
          </a:p>
        </p:txBody>
      </p:sp>
      <p:sp>
        <p:nvSpPr>
          <p:cNvPr id="30" name="Text: Reviews proposed work in context.&#10;Responds in the conversati"/>
          <p:cNvSpPr txBox="1"/>
          <p:nvPr/>
        </p:nvSpPr>
        <p:spPr>
          <a:xfrm>
            <a:off x="7891272" y="2706624"/>
            <a:ext cx="3410712" cy="658368"/>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1600" b="0">
                <a:solidFill>
                  <a:srgbClr val="172B46"/>
                </a:solidFill>
                <a:latin typeface="Aptos"/>
              </a:rPr>
              <a:t>Reviews proposed work in context.</a:t>
            </a:r>
          </a:p>
          <a:p>
            <a:pPr algn="l">
              <a:lnSpc>
                <a:spcPct val="108000"/>
              </a:lnSpc>
              <a:spcBef>
                <a:spcPts val="0"/>
              </a:spcBef>
              <a:spcAft>
                <a:spcPts val="0"/>
              </a:spcAft>
            </a:pPr>
            <a:r>
              <a:rPr sz="1600" b="0">
                <a:solidFill>
                  <a:srgbClr val="172B46"/>
                </a:solidFill>
                <a:latin typeface="Aptos"/>
              </a:rPr>
              <a:t>Responds in the conversation.</a:t>
            </a:r>
          </a:p>
        </p:txBody>
      </p:sp>
      <p:sp>
        <p:nvSpPr>
          <p:cNvPr id="31" name="Rounded Rectangle 30"/>
          <p:cNvSpPr/>
          <p:nvPr/>
        </p:nvSpPr>
        <p:spPr>
          <a:xfrm>
            <a:off x="7644383" y="3840480"/>
            <a:ext cx="3904487" cy="1755648"/>
          </a:xfrm>
          <a:prstGeom prst="roundRect">
            <a:avLst>
              <a:gd name="adj" fmla="val 12000"/>
            </a:avLst>
          </a:prstGeom>
          <a:solidFill>
            <a:srgbClr val="ED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 Tool approval"/>
          <p:cNvSpPr txBox="1"/>
          <p:nvPr/>
        </p:nvSpPr>
        <p:spPr>
          <a:xfrm>
            <a:off x="7891272" y="4041648"/>
            <a:ext cx="3410712" cy="384048"/>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2300" b="1">
                <a:solidFill>
                  <a:srgbClr val="172B46"/>
                </a:solidFill>
                <a:latin typeface="Aptos"/>
              </a:rPr>
              <a:t>Tool approval</a:t>
            </a:r>
          </a:p>
        </p:txBody>
      </p:sp>
      <p:sp>
        <p:nvSpPr>
          <p:cNvPr id="33" name="Text: Intercepts one pending tool call.&#10;Allows or rejects that inv"/>
          <p:cNvSpPr txBox="1"/>
          <p:nvPr/>
        </p:nvSpPr>
        <p:spPr>
          <a:xfrm>
            <a:off x="7891272" y="4599432"/>
            <a:ext cx="3410712" cy="667512"/>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1600" b="0">
                <a:solidFill>
                  <a:srgbClr val="172B46"/>
                </a:solidFill>
                <a:latin typeface="Aptos"/>
              </a:rPr>
              <a:t>Intercepts one pending tool call.</a:t>
            </a:r>
          </a:p>
          <a:p>
            <a:pPr algn="l">
              <a:lnSpc>
                <a:spcPct val="108000"/>
              </a:lnSpc>
              <a:spcBef>
                <a:spcPts val="0"/>
              </a:spcBef>
              <a:spcAft>
                <a:spcPts val="0"/>
              </a:spcAft>
            </a:pPr>
            <a:r>
              <a:rPr sz="1600" b="0">
                <a:solidFill>
                  <a:srgbClr val="172B46"/>
                </a:solidFill>
                <a:latin typeface="Aptos"/>
              </a:rPr>
              <a:t>Allows or rejects that invocation.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AGENT FRAMEWORK  /  GROUP CHAT"/>
          <p:cNvSpPr txBox="1"/>
          <p:nvPr/>
        </p:nvSpPr>
        <p:spPr>
          <a:xfrm>
            <a:off x="640080" y="292608"/>
            <a:ext cx="10789920" cy="246888"/>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1100" b="1">
                <a:solidFill>
                  <a:srgbClr val="087F8C"/>
                </a:solidFill>
                <a:latin typeface="Aptos"/>
              </a:rPr>
              <a:t>AGENT FRAMEWORK  /  GROUP CHAT</a:t>
            </a:r>
          </a:p>
        </p:txBody>
      </p:sp>
      <p:sp>
        <p:nvSpPr>
          <p:cNvPr id="4" name="Text: The manager owns three independent policies"/>
          <p:cNvSpPr txBox="1"/>
          <p:nvPr/>
        </p:nvSpPr>
        <p:spPr>
          <a:xfrm>
            <a:off x="640080" y="713232"/>
            <a:ext cx="10927080" cy="566928"/>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3100" b="1">
                <a:solidFill>
                  <a:srgbClr val="172B46"/>
                </a:solidFill>
                <a:latin typeface="Aptos"/>
              </a:rPr>
              <a:t>The manager owns three independent policies</a:t>
            </a:r>
          </a:p>
        </p:txBody>
      </p:sp>
      <p:sp>
        <p:nvSpPr>
          <p:cNvPr id="5" name="Text: Change who speaks, what they see, or when the conversation e"/>
          <p:cNvSpPr txBox="1"/>
          <p:nvPr/>
        </p:nvSpPr>
        <p:spPr>
          <a:xfrm>
            <a:off x="640080" y="1362456"/>
            <a:ext cx="10881360" cy="384048"/>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1700" b="0">
                <a:solidFill>
                  <a:srgbClr val="52647B"/>
                </a:solidFill>
                <a:latin typeface="Aptos"/>
              </a:rPr>
              <a:t>Change who speaks, what they see, or when the conversation ends.</a:t>
            </a:r>
          </a:p>
        </p:txBody>
      </p:sp>
      <p:sp>
        <p:nvSpPr>
          <p:cNvPr id="6" name="Rounded Rectangle 5"/>
          <p:cNvSpPr/>
          <p:nvPr/>
        </p:nvSpPr>
        <p:spPr>
          <a:xfrm>
            <a:off x="640080" y="5907024"/>
            <a:ext cx="10908792" cy="512064"/>
          </a:xfrm>
          <a:prstGeom prst="roundRect">
            <a:avLst>
              <a:gd name="adj" fmla="val 12000"/>
            </a:avLst>
          </a:prstGeom>
          <a:solidFill>
            <a:srgbClr val="17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Deterministic control flow does not require an LLM manager."/>
          <p:cNvSpPr txBox="1"/>
          <p:nvPr/>
        </p:nvSpPr>
        <p:spPr>
          <a:xfrm>
            <a:off x="832104" y="5961888"/>
            <a:ext cx="10515600" cy="374904"/>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1700" b="1">
                <a:solidFill>
                  <a:srgbClr val="FFFFFF"/>
                </a:solidFill>
                <a:latin typeface="Aptos"/>
              </a:rPr>
              <a:t>Deterministic control flow does not require an LLM manager.</a:t>
            </a:r>
          </a:p>
        </p:txBody>
      </p:sp>
      <p:sp>
        <p:nvSpPr>
          <p:cNvPr id="8" name="Text: CONCEPTS, NOT A FIXED IMPLEMENTATION"/>
          <p:cNvSpPr txBox="1"/>
          <p:nvPr/>
        </p:nvSpPr>
        <p:spPr>
          <a:xfrm>
            <a:off x="640080" y="6556248"/>
            <a:ext cx="8686800" cy="182880"/>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900" b="0">
                <a:solidFill>
                  <a:srgbClr val="52647B"/>
                </a:solidFill>
                <a:latin typeface="Aptos"/>
              </a:rPr>
              <a:t>CONCEPTS, NOT A FIXED IMPLEMENTATION</a:t>
            </a:r>
          </a:p>
        </p:txBody>
      </p:sp>
      <p:sp>
        <p:nvSpPr>
          <p:cNvPr id="9" name="Text: 04  /  05"/>
          <p:cNvSpPr txBox="1"/>
          <p:nvPr/>
        </p:nvSpPr>
        <p:spPr>
          <a:xfrm>
            <a:off x="10497312" y="6501384"/>
            <a:ext cx="1051560" cy="274320"/>
          </a:xfrm>
          <a:prstGeom prst="rect">
            <a:avLst/>
          </a:prstGeom>
          <a:noFill/>
        </p:spPr>
        <p:txBody>
          <a:bodyPr wrap="square" lIns="13716" rIns="13716" tIns="13716" bIns="13716" anchor="ctr">
            <a:spAutoFit/>
          </a:bodyPr>
          <a:lstStyle/>
          <a:p>
            <a:pPr algn="r">
              <a:lnSpc>
                <a:spcPct val="108000"/>
              </a:lnSpc>
              <a:spcBef>
                <a:spcPts val="0"/>
              </a:spcBef>
              <a:spcAft>
                <a:spcPts val="0"/>
              </a:spcAft>
            </a:pPr>
            <a:r>
              <a:rPr sz="1100" b="0">
                <a:solidFill>
                  <a:srgbClr val="52647B"/>
                </a:solidFill>
                <a:latin typeface="Aptos"/>
              </a:rPr>
              <a:t>04  /  05</a:t>
            </a:r>
          </a:p>
        </p:txBody>
      </p:sp>
      <p:sp>
        <p:nvSpPr>
          <p:cNvPr id="10" name="Rounded Rectangle 9"/>
          <p:cNvSpPr/>
          <p:nvPr/>
        </p:nvSpPr>
        <p:spPr>
          <a:xfrm>
            <a:off x="640080" y="2066543"/>
            <a:ext cx="3410712" cy="1719072"/>
          </a:xfrm>
          <a:prstGeom prst="roundRect">
            <a:avLst>
              <a:gd name="adj" fmla="val 12000"/>
            </a:avLst>
          </a:prstGeom>
          <a:solidFill>
            <a:srgbClr val="F1EB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1  Stop?"/>
          <p:cNvSpPr txBox="1"/>
          <p:nvPr/>
        </p:nvSpPr>
        <p:spPr>
          <a:xfrm>
            <a:off x="850392" y="2276856"/>
            <a:ext cx="2990088" cy="429768"/>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2300" b="1">
                <a:solidFill>
                  <a:srgbClr val="7751A8"/>
                </a:solidFill>
                <a:latin typeface="Aptos"/>
              </a:rPr>
              <a:t>1  Stop?</a:t>
            </a:r>
          </a:p>
        </p:txBody>
      </p:sp>
      <p:sp>
        <p:nvSpPr>
          <p:cNvPr id="12" name="Text: Goal reached?&#10;Turn budget exhausted?"/>
          <p:cNvSpPr txBox="1"/>
          <p:nvPr/>
        </p:nvSpPr>
        <p:spPr>
          <a:xfrm>
            <a:off x="850392" y="2852928"/>
            <a:ext cx="2990088" cy="630936"/>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1800" b="0">
                <a:solidFill>
                  <a:srgbClr val="172B46"/>
                </a:solidFill>
                <a:latin typeface="Aptos"/>
              </a:rPr>
              <a:t>Goal reached?</a:t>
            </a:r>
          </a:p>
          <a:p>
            <a:pPr algn="l">
              <a:lnSpc>
                <a:spcPct val="108000"/>
              </a:lnSpc>
              <a:spcBef>
                <a:spcPts val="0"/>
              </a:spcBef>
              <a:spcAft>
                <a:spcPts val="0"/>
              </a:spcAft>
            </a:pPr>
            <a:r>
              <a:rPr sz="1800" b="0">
                <a:solidFill>
                  <a:srgbClr val="172B46"/>
                </a:solidFill>
                <a:latin typeface="Aptos"/>
              </a:rPr>
              <a:t>Turn budget exhausted?</a:t>
            </a:r>
          </a:p>
        </p:txBody>
      </p:sp>
      <p:sp>
        <p:nvSpPr>
          <p:cNvPr id="13" name="Rounded Rectangle 12"/>
          <p:cNvSpPr/>
          <p:nvPr/>
        </p:nvSpPr>
        <p:spPr>
          <a:xfrm>
            <a:off x="4389120" y="2066543"/>
            <a:ext cx="3410712" cy="1719072"/>
          </a:xfrm>
          <a:prstGeom prst="roundRect">
            <a:avLst>
              <a:gd name="adj" fmla="val 12000"/>
            </a:avLst>
          </a:prstGeom>
          <a:solidFill>
            <a:srgbClr val="E5F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2  Share context"/>
          <p:cNvSpPr txBox="1"/>
          <p:nvPr/>
        </p:nvSpPr>
        <p:spPr>
          <a:xfrm>
            <a:off x="4599432" y="2276856"/>
            <a:ext cx="2990088" cy="429768"/>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2300" b="1">
                <a:solidFill>
                  <a:srgbClr val="087F8C"/>
                </a:solidFill>
                <a:latin typeface="Aptos"/>
              </a:rPr>
              <a:t>2  Share context</a:t>
            </a:r>
          </a:p>
        </p:txBody>
      </p:sp>
      <p:sp>
        <p:nvSpPr>
          <p:cNvPr id="15" name="Text: Conversation&#10;+ explicit state"/>
          <p:cNvSpPr txBox="1"/>
          <p:nvPr/>
        </p:nvSpPr>
        <p:spPr>
          <a:xfrm>
            <a:off x="4599432" y="2852928"/>
            <a:ext cx="2990088" cy="630936"/>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1800" b="0">
                <a:solidFill>
                  <a:srgbClr val="172B46"/>
                </a:solidFill>
                <a:latin typeface="Aptos"/>
              </a:rPr>
              <a:t>Conversation</a:t>
            </a:r>
          </a:p>
          <a:p>
            <a:pPr algn="l">
              <a:lnSpc>
                <a:spcPct val="108000"/>
              </a:lnSpc>
              <a:spcBef>
                <a:spcPts val="0"/>
              </a:spcBef>
              <a:spcAft>
                <a:spcPts val="0"/>
              </a:spcAft>
            </a:pPr>
            <a:r>
              <a:rPr sz="1800" b="0">
                <a:solidFill>
                  <a:srgbClr val="172B46"/>
                </a:solidFill>
                <a:latin typeface="Aptos"/>
              </a:rPr>
              <a:t>+ explicit state</a:t>
            </a:r>
          </a:p>
        </p:txBody>
      </p:sp>
      <p:sp>
        <p:nvSpPr>
          <p:cNvPr id="16" name="Rounded Rectangle 15"/>
          <p:cNvSpPr/>
          <p:nvPr/>
        </p:nvSpPr>
        <p:spPr>
          <a:xfrm>
            <a:off x="8138160" y="2066543"/>
            <a:ext cx="3410712" cy="1719072"/>
          </a:xfrm>
          <a:prstGeom prst="roundRect">
            <a:avLst>
              <a:gd name="adj" fmla="val 12000"/>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3  Select speaker"/>
          <p:cNvSpPr txBox="1"/>
          <p:nvPr/>
        </p:nvSpPr>
        <p:spPr>
          <a:xfrm>
            <a:off x="8348472" y="2276856"/>
            <a:ext cx="2990088" cy="429768"/>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2300" b="1">
                <a:solidFill>
                  <a:srgbClr val="4263D8"/>
                </a:solidFill>
                <a:latin typeface="Aptos"/>
              </a:rPr>
              <a:t>3  Select speaker</a:t>
            </a:r>
          </a:p>
        </p:txBody>
      </p:sp>
      <p:sp>
        <p:nvSpPr>
          <p:cNvPr id="18" name="Text: Round robin, rules,&#10;or model-based selection"/>
          <p:cNvSpPr txBox="1"/>
          <p:nvPr/>
        </p:nvSpPr>
        <p:spPr>
          <a:xfrm>
            <a:off x="8348472" y="2852928"/>
            <a:ext cx="2990088" cy="630936"/>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1800" b="0">
                <a:solidFill>
                  <a:srgbClr val="172B46"/>
                </a:solidFill>
                <a:latin typeface="Aptos"/>
              </a:rPr>
              <a:t>Round robin, rules,</a:t>
            </a:r>
          </a:p>
          <a:p>
            <a:pPr algn="l">
              <a:lnSpc>
                <a:spcPct val="108000"/>
              </a:lnSpc>
              <a:spcBef>
                <a:spcPts val="0"/>
              </a:spcBef>
              <a:spcAft>
                <a:spcPts val="0"/>
              </a:spcAft>
            </a:pPr>
            <a:r>
              <a:rPr sz="1800" b="0">
                <a:solidFill>
                  <a:srgbClr val="172B46"/>
                </a:solidFill>
                <a:latin typeface="Aptos"/>
              </a:rPr>
              <a:t>or model-based selection</a:t>
            </a:r>
          </a:p>
        </p:txBody>
      </p:sp>
      <p:cxnSp>
        <p:nvCxnSpPr>
          <p:cNvPr id="19" name="Connector 18"/>
          <p:cNvCxnSpPr/>
          <p:nvPr/>
        </p:nvCxnSpPr>
        <p:spPr>
          <a:xfrm>
            <a:off x="4059936" y="2926080"/>
            <a:ext cx="301752" cy="0"/>
          </a:xfrm>
          <a:prstGeom prst="line">
            <a:avLst/>
          </a:prstGeom>
          <a:ln w="22860">
            <a:solidFill>
              <a:srgbClr val="52647B"/>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808975" y="2926080"/>
            <a:ext cx="301752" cy="0"/>
          </a:xfrm>
          <a:prstGeom prst="line">
            <a:avLst/>
          </a:prstGeom>
          <a:ln w="22860">
            <a:solidFill>
              <a:srgbClr val="52647B"/>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843516" y="3822191"/>
            <a:ext cx="0" cy="530353"/>
          </a:xfrm>
          <a:prstGeom prst="line">
            <a:avLst/>
          </a:prstGeom>
          <a:ln w="22860">
            <a:solidFill>
              <a:srgbClr val="4263D8"/>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2350008" y="4828032"/>
            <a:ext cx="5769864" cy="0"/>
          </a:xfrm>
          <a:prstGeom prst="line">
            <a:avLst/>
          </a:prstGeom>
          <a:ln w="22860">
            <a:solidFill>
              <a:srgbClr val="52647B"/>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350008" y="3822191"/>
            <a:ext cx="0" cy="1005841"/>
          </a:xfrm>
          <a:prstGeom prst="line">
            <a:avLst/>
          </a:prstGeom>
          <a:ln w="22860">
            <a:solidFill>
              <a:srgbClr val="52647B"/>
            </a:solidFill>
            <a:tailEnd type="triangle" w="sm" len="sm"/>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38160" y="4389120"/>
            <a:ext cx="3410712" cy="877824"/>
          </a:xfrm>
          <a:prstGeom prst="roundRect">
            <a:avLst>
              <a:gd name="adj" fmla="val 12000"/>
            </a:avLst>
          </a:prstGeom>
          <a:solidFill>
            <a:srgbClr val="FFFFFF"/>
          </a:solidFill>
          <a:ln w="12700">
            <a:solidFill>
              <a:srgbClr val="CED7E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 Run selected participant"/>
          <p:cNvSpPr txBox="1"/>
          <p:nvPr/>
        </p:nvSpPr>
        <p:spPr>
          <a:xfrm>
            <a:off x="8229600" y="4443983"/>
            <a:ext cx="3227832" cy="768096"/>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2000" b="1">
                <a:solidFill>
                  <a:srgbClr val="172B46"/>
                </a:solidFill>
                <a:latin typeface="Aptos"/>
              </a:rPr>
              <a:t>Run selected participant</a:t>
            </a:r>
          </a:p>
        </p:txBody>
      </p:sp>
      <p:sp>
        <p:nvSpPr>
          <p:cNvPr id="26" name="Text: Response → next check"/>
          <p:cNvSpPr txBox="1"/>
          <p:nvPr/>
        </p:nvSpPr>
        <p:spPr>
          <a:xfrm>
            <a:off x="3127248" y="4325112"/>
            <a:ext cx="4306824" cy="320040"/>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1600" b="0">
                <a:solidFill>
                  <a:srgbClr val="52647B"/>
                </a:solidFill>
                <a:latin typeface="Aptos"/>
              </a:rPr>
              <a:t>Response → next check</a:t>
            </a:r>
          </a:p>
        </p:txBody>
      </p:sp>
      <p:sp>
        <p:nvSpPr>
          <p:cNvPr id="27" name="Text: A turn limit bounds work; it does not prove successful compl"/>
          <p:cNvSpPr txBox="1"/>
          <p:nvPr/>
        </p:nvSpPr>
        <p:spPr>
          <a:xfrm>
            <a:off x="713232" y="5340096"/>
            <a:ext cx="10762488" cy="265176"/>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1600" b="0">
                <a:solidFill>
                  <a:srgbClr val="52647B"/>
                </a:solidFill>
                <a:latin typeface="Aptos"/>
              </a:rPr>
              <a:t>A turn limit bounds work; it does not prove successful completion.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B"/>
        </a:solidFill>
        <a:effectLst/>
      </p:bgPr>
    </p:bg>
    <p:spTree>
      <p:nvGrpSpPr>
        <p:cNvPr id="1" name=""/>
        <p:cNvGrpSpPr/>
        <p:nvPr/>
      </p:nvGrpSpPr>
      <p:grpSpPr/>
      <p:sp>
        <p:nvSpPr>
          <p:cNvPr id="2" name="Rectangle 1"/>
          <p:cNvSpPr/>
          <p:nvPr/>
        </p:nvSpPr>
        <p:spPr>
          <a:xfrm>
            <a:off x="0" y="0"/>
            <a:ext cx="12191999" cy="68580"/>
          </a:xfrm>
          <a:prstGeom prst="rect">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 AGENT FRAMEWORK  /  GROUP CHAT"/>
          <p:cNvSpPr txBox="1"/>
          <p:nvPr/>
        </p:nvSpPr>
        <p:spPr>
          <a:xfrm>
            <a:off x="640080" y="292608"/>
            <a:ext cx="10789920" cy="246888"/>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1100" b="1">
                <a:solidFill>
                  <a:srgbClr val="087F8C"/>
                </a:solidFill>
                <a:latin typeface="Aptos"/>
              </a:rPr>
              <a:t>AGENT FRAMEWORK  /  GROUP CHAT</a:t>
            </a:r>
          </a:p>
        </p:txBody>
      </p:sp>
      <p:sp>
        <p:nvSpPr>
          <p:cNvPr id="4" name="Text: Make state explicit. Require evidence."/>
          <p:cNvSpPr txBox="1"/>
          <p:nvPr/>
        </p:nvSpPr>
        <p:spPr>
          <a:xfrm>
            <a:off x="640080" y="713232"/>
            <a:ext cx="10927080" cy="566928"/>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3100" b="1">
                <a:solidFill>
                  <a:srgbClr val="172B46"/>
                </a:solidFill>
                <a:latin typeface="Aptos"/>
              </a:rPr>
              <a:t>Make state explicit. Require evidence.</a:t>
            </a:r>
          </a:p>
        </p:txBody>
      </p:sp>
      <p:sp>
        <p:nvSpPr>
          <p:cNvPr id="5" name="Text: A request, a completed action, and an authorization are diff"/>
          <p:cNvSpPr txBox="1"/>
          <p:nvPr/>
        </p:nvSpPr>
        <p:spPr>
          <a:xfrm>
            <a:off x="640080" y="1362456"/>
            <a:ext cx="10881360" cy="384048"/>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1700" b="0">
                <a:solidFill>
                  <a:srgbClr val="52647B"/>
                </a:solidFill>
                <a:latin typeface="Aptos"/>
              </a:rPr>
              <a:t>A request, a completed action, and an authorization are different facts.</a:t>
            </a:r>
          </a:p>
        </p:txBody>
      </p:sp>
      <p:sp>
        <p:nvSpPr>
          <p:cNvPr id="6" name="Rounded Rectangle 5"/>
          <p:cNvSpPr/>
          <p:nvPr/>
        </p:nvSpPr>
        <p:spPr>
          <a:xfrm>
            <a:off x="640080" y="5907024"/>
            <a:ext cx="10908792" cy="512064"/>
          </a:xfrm>
          <a:prstGeom prst="roundRect">
            <a:avLst>
              <a:gd name="adj" fmla="val 12000"/>
            </a:avLst>
          </a:prstGeom>
          <a:solidFill>
            <a:srgbClr val="17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 Explicit state improves reliability; it does not guarantee c"/>
          <p:cNvSpPr txBox="1"/>
          <p:nvPr/>
        </p:nvSpPr>
        <p:spPr>
          <a:xfrm>
            <a:off x="832104" y="5961888"/>
            <a:ext cx="10515600" cy="374904"/>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1700" b="1">
                <a:solidFill>
                  <a:srgbClr val="FFFFFF"/>
                </a:solidFill>
                <a:latin typeface="Aptos"/>
              </a:rPr>
              <a:t>Explicit state improves reliability; it does not guarantee correct model reasoning.</a:t>
            </a:r>
          </a:p>
        </p:txBody>
      </p:sp>
      <p:sp>
        <p:nvSpPr>
          <p:cNvPr id="8" name="Text: CONCEPTS, NOT A FIXED IMPLEMENTATION"/>
          <p:cNvSpPr txBox="1"/>
          <p:nvPr/>
        </p:nvSpPr>
        <p:spPr>
          <a:xfrm>
            <a:off x="640080" y="6556248"/>
            <a:ext cx="8686800" cy="182880"/>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900" b="0">
                <a:solidFill>
                  <a:srgbClr val="52647B"/>
                </a:solidFill>
                <a:latin typeface="Aptos"/>
              </a:rPr>
              <a:t>CONCEPTS, NOT A FIXED IMPLEMENTATION</a:t>
            </a:r>
          </a:p>
        </p:txBody>
      </p:sp>
      <p:sp>
        <p:nvSpPr>
          <p:cNvPr id="9" name="Text: 05  /  05"/>
          <p:cNvSpPr txBox="1"/>
          <p:nvPr/>
        </p:nvSpPr>
        <p:spPr>
          <a:xfrm>
            <a:off x="10497312" y="6501384"/>
            <a:ext cx="1051560" cy="274320"/>
          </a:xfrm>
          <a:prstGeom prst="rect">
            <a:avLst/>
          </a:prstGeom>
          <a:noFill/>
        </p:spPr>
        <p:txBody>
          <a:bodyPr wrap="square" lIns="13716" rIns="13716" tIns="13716" bIns="13716" anchor="ctr">
            <a:spAutoFit/>
          </a:bodyPr>
          <a:lstStyle/>
          <a:p>
            <a:pPr algn="r">
              <a:lnSpc>
                <a:spcPct val="108000"/>
              </a:lnSpc>
              <a:spcBef>
                <a:spcPts val="0"/>
              </a:spcBef>
              <a:spcAft>
                <a:spcPts val="0"/>
              </a:spcAft>
            </a:pPr>
            <a:r>
              <a:rPr sz="1100" b="0">
                <a:solidFill>
                  <a:srgbClr val="52647B"/>
                </a:solidFill>
                <a:latin typeface="Aptos"/>
              </a:rPr>
              <a:t>05  /  05</a:t>
            </a:r>
          </a:p>
        </p:txBody>
      </p:sp>
      <p:sp>
        <p:nvSpPr>
          <p:cNvPr id="10" name="Text: WORDS ALONE DO NOT CONFIRM COMPLETION"/>
          <p:cNvSpPr txBox="1"/>
          <p:nvPr/>
        </p:nvSpPr>
        <p:spPr>
          <a:xfrm>
            <a:off x="694944" y="1965960"/>
            <a:ext cx="6675120" cy="256032"/>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1100" b="1">
                <a:solidFill>
                  <a:srgbClr val="52647B"/>
                </a:solidFill>
                <a:latin typeface="Aptos"/>
              </a:rPr>
              <a:t>WORDS ALONE DO NOT CONFIRM COMPLETION</a:t>
            </a:r>
          </a:p>
        </p:txBody>
      </p:sp>
      <p:sp>
        <p:nvSpPr>
          <p:cNvPr id="11" name="Rounded Rectangle 10"/>
          <p:cNvSpPr/>
          <p:nvPr/>
        </p:nvSpPr>
        <p:spPr>
          <a:xfrm>
            <a:off x="694944" y="2450592"/>
            <a:ext cx="2916936" cy="996696"/>
          </a:xfrm>
          <a:prstGeom prst="roundRect">
            <a:avLst>
              <a:gd name="adj" fmla="val 12000"/>
            </a:avLst>
          </a:prstGeom>
          <a:solidFill>
            <a:srgbClr val="FFF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Please run&#10;the check.”"/>
          <p:cNvSpPr txBox="1"/>
          <p:nvPr/>
        </p:nvSpPr>
        <p:spPr>
          <a:xfrm>
            <a:off x="786384" y="2505456"/>
            <a:ext cx="2734056" cy="886968"/>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2300" b="1">
                <a:solidFill>
                  <a:srgbClr val="A96A16"/>
                </a:solidFill>
                <a:latin typeface="Aptos"/>
              </a:rPr>
              <a:t>“Please run</a:t>
            </a:r>
          </a:p>
          <a:p>
            <a:pPr algn="ctr">
              <a:lnSpc>
                <a:spcPct val="108000"/>
              </a:lnSpc>
              <a:spcBef>
                <a:spcPts val="0"/>
              </a:spcBef>
              <a:spcAft>
                <a:spcPts val="0"/>
              </a:spcAft>
            </a:pPr>
            <a:r>
              <a:rPr sz="2300" b="1">
                <a:solidFill>
                  <a:srgbClr val="A96A16"/>
                </a:solidFill>
                <a:latin typeface="Aptos"/>
              </a:rPr>
              <a:t>the check.”</a:t>
            </a:r>
          </a:p>
        </p:txBody>
      </p:sp>
      <p:sp>
        <p:nvSpPr>
          <p:cNvPr id="13" name="Text: ≠"/>
          <p:cNvSpPr txBox="1"/>
          <p:nvPr/>
        </p:nvSpPr>
        <p:spPr>
          <a:xfrm>
            <a:off x="3721608" y="2532888"/>
            <a:ext cx="448056" cy="740664"/>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3700" b="1">
                <a:solidFill>
                  <a:srgbClr val="AE4050"/>
                </a:solidFill>
                <a:latin typeface="Aptos"/>
              </a:rPr>
              <a:t>≠</a:t>
            </a:r>
          </a:p>
        </p:txBody>
      </p:sp>
      <p:sp>
        <p:nvSpPr>
          <p:cNvPr id="14" name="Rounded Rectangle 13"/>
          <p:cNvSpPr/>
          <p:nvPr/>
        </p:nvSpPr>
        <p:spPr>
          <a:xfrm>
            <a:off x="4306824" y="2450592"/>
            <a:ext cx="2916936" cy="996696"/>
          </a:xfrm>
          <a:prstGeom prst="roundRect">
            <a:avLst>
              <a:gd name="adj" fmla="val 12000"/>
            </a:avLst>
          </a:prstGeom>
          <a:solidFill>
            <a:srgbClr val="EDF1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Check completed"/>
          <p:cNvSpPr txBox="1"/>
          <p:nvPr/>
        </p:nvSpPr>
        <p:spPr>
          <a:xfrm>
            <a:off x="4398264" y="2505456"/>
            <a:ext cx="2734056" cy="886968"/>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2200" b="1">
                <a:solidFill>
                  <a:srgbClr val="172B46"/>
                </a:solidFill>
                <a:latin typeface="Aptos"/>
              </a:rPr>
              <a:t>Check completed</a:t>
            </a:r>
          </a:p>
        </p:txBody>
      </p:sp>
      <p:sp>
        <p:nvSpPr>
          <p:cNvPr id="16" name="Text: Do not infer progress&#10;from conversational&#10;wording."/>
          <p:cNvSpPr txBox="1"/>
          <p:nvPr/>
        </p:nvSpPr>
        <p:spPr>
          <a:xfrm>
            <a:off x="7836408" y="2276856"/>
            <a:ext cx="3575304" cy="1133856"/>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2300" b="1">
                <a:solidFill>
                  <a:srgbClr val="172B46"/>
                </a:solidFill>
                <a:latin typeface="Aptos"/>
              </a:rPr>
              <a:t>Do not infer progress</a:t>
            </a:r>
          </a:p>
          <a:p>
            <a:pPr algn="l">
              <a:lnSpc>
                <a:spcPct val="108000"/>
              </a:lnSpc>
              <a:spcBef>
                <a:spcPts val="0"/>
              </a:spcBef>
              <a:spcAft>
                <a:spcPts val="0"/>
              </a:spcAft>
            </a:pPr>
            <a:r>
              <a:rPr sz="2300" b="1">
                <a:solidFill>
                  <a:srgbClr val="172B46"/>
                </a:solidFill>
                <a:latin typeface="Aptos"/>
              </a:rPr>
              <a:t>from conversational</a:t>
            </a:r>
          </a:p>
          <a:p>
            <a:pPr algn="l">
              <a:lnSpc>
                <a:spcPct val="108000"/>
              </a:lnSpc>
              <a:spcBef>
                <a:spcPts val="0"/>
              </a:spcBef>
              <a:spcAft>
                <a:spcPts val="0"/>
              </a:spcAft>
            </a:pPr>
            <a:r>
              <a:rPr sz="2300" b="1">
                <a:solidFill>
                  <a:srgbClr val="172B46"/>
                </a:solidFill>
                <a:latin typeface="Aptos"/>
              </a:rPr>
              <a:t>wording.</a:t>
            </a:r>
          </a:p>
        </p:txBody>
      </p:sp>
      <p:sp>
        <p:nvSpPr>
          <p:cNvPr id="17" name="Text: GROUND THE NEXT STEP IN OBSERVED EVIDENCE"/>
          <p:cNvSpPr txBox="1"/>
          <p:nvPr/>
        </p:nvSpPr>
        <p:spPr>
          <a:xfrm>
            <a:off x="694944" y="3721608"/>
            <a:ext cx="10725912" cy="256032"/>
          </a:xfrm>
          <a:prstGeom prst="rect">
            <a:avLst/>
          </a:prstGeom>
          <a:noFill/>
        </p:spPr>
        <p:txBody>
          <a:bodyPr wrap="square" lIns="13716" rIns="13716" tIns="13716" bIns="13716" anchor="ctr">
            <a:spAutoFit/>
          </a:bodyPr>
          <a:lstStyle/>
          <a:p>
            <a:pPr algn="l">
              <a:lnSpc>
                <a:spcPct val="108000"/>
              </a:lnSpc>
              <a:spcBef>
                <a:spcPts val="0"/>
              </a:spcBef>
              <a:spcAft>
                <a:spcPts val="0"/>
              </a:spcAft>
            </a:pPr>
            <a:r>
              <a:rPr sz="1100" b="1">
                <a:solidFill>
                  <a:srgbClr val="087F8C"/>
                </a:solidFill>
                <a:latin typeface="Aptos"/>
              </a:rPr>
              <a:t>GROUND THE NEXT STEP IN OBSERVED EVIDENCE</a:t>
            </a:r>
          </a:p>
        </p:txBody>
      </p:sp>
      <p:cxnSp>
        <p:nvCxnSpPr>
          <p:cNvPr id="18" name="Connector 17"/>
          <p:cNvCxnSpPr/>
          <p:nvPr/>
        </p:nvCxnSpPr>
        <p:spPr>
          <a:xfrm>
            <a:off x="3648456" y="4636008"/>
            <a:ext cx="603504" cy="0"/>
          </a:xfrm>
          <a:prstGeom prst="line">
            <a:avLst/>
          </a:prstGeom>
          <a:ln w="22860">
            <a:solidFill>
              <a:srgbClr val="087F8C"/>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260336" y="4636008"/>
            <a:ext cx="713232" cy="0"/>
          </a:xfrm>
          <a:prstGeom prst="line">
            <a:avLst/>
          </a:prstGeom>
          <a:ln w="22860">
            <a:solidFill>
              <a:srgbClr val="087F8C"/>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94944" y="4142232"/>
            <a:ext cx="2916936" cy="996696"/>
          </a:xfrm>
          <a:prstGeom prst="roundRect">
            <a:avLst>
              <a:gd name="adj" fmla="val 12000"/>
            </a:avLst>
          </a:prstGeom>
          <a:solidFill>
            <a:srgbClr val="E5F3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Successful&#10;tool result"/>
          <p:cNvSpPr txBox="1"/>
          <p:nvPr/>
        </p:nvSpPr>
        <p:spPr>
          <a:xfrm>
            <a:off x="786384" y="4197096"/>
            <a:ext cx="2734056" cy="886968"/>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2200" b="1">
                <a:solidFill>
                  <a:srgbClr val="087F8C"/>
                </a:solidFill>
                <a:latin typeface="Aptos"/>
              </a:rPr>
              <a:t>Successful</a:t>
            </a:r>
          </a:p>
          <a:p>
            <a:pPr algn="ctr">
              <a:lnSpc>
                <a:spcPct val="108000"/>
              </a:lnSpc>
              <a:spcBef>
                <a:spcPts val="0"/>
              </a:spcBef>
              <a:spcAft>
                <a:spcPts val="0"/>
              </a:spcAft>
            </a:pPr>
            <a:r>
              <a:rPr sz="2200" b="1">
                <a:solidFill>
                  <a:srgbClr val="087F8C"/>
                </a:solidFill>
                <a:latin typeface="Aptos"/>
              </a:rPr>
              <a:t>tool result</a:t>
            </a:r>
          </a:p>
        </p:txBody>
      </p:sp>
      <p:sp>
        <p:nvSpPr>
          <p:cNvPr id="22" name="Rounded Rectangle 21"/>
          <p:cNvSpPr/>
          <p:nvPr/>
        </p:nvSpPr>
        <p:spPr>
          <a:xfrm>
            <a:off x="4306824" y="4142232"/>
            <a:ext cx="2916936" cy="996696"/>
          </a:xfrm>
          <a:prstGeom prst="roundRect">
            <a:avLst>
              <a:gd name="adj" fmla="val 12000"/>
            </a:avLst>
          </a:prstGeom>
          <a:solidFill>
            <a:srgbClr val="172B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 Explicit state"/>
          <p:cNvSpPr txBox="1"/>
          <p:nvPr/>
        </p:nvSpPr>
        <p:spPr>
          <a:xfrm>
            <a:off x="4453128" y="4224528"/>
            <a:ext cx="2624328" cy="384048"/>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2100" b="1">
                <a:solidFill>
                  <a:srgbClr val="FFFFFF"/>
                </a:solidFill>
                <a:latin typeface="Aptos"/>
              </a:rPr>
              <a:t>Explicit state</a:t>
            </a:r>
          </a:p>
        </p:txBody>
      </p:sp>
      <p:sp>
        <p:nvSpPr>
          <p:cNvPr id="24" name="Text: Check complete: yes"/>
          <p:cNvSpPr txBox="1"/>
          <p:nvPr/>
        </p:nvSpPr>
        <p:spPr>
          <a:xfrm>
            <a:off x="4453128" y="4663440"/>
            <a:ext cx="2624328" cy="256032"/>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1600" b="0">
                <a:solidFill>
                  <a:srgbClr val="FFFFFF"/>
                </a:solidFill>
                <a:latin typeface="Aptos"/>
              </a:rPr>
              <a:t>Check complete: yes</a:t>
            </a:r>
          </a:p>
        </p:txBody>
      </p:sp>
      <p:sp>
        <p:nvSpPr>
          <p:cNvPr id="25" name="Rounded Rectangle 24"/>
          <p:cNvSpPr/>
          <p:nvPr/>
        </p:nvSpPr>
        <p:spPr>
          <a:xfrm>
            <a:off x="8019288" y="4142232"/>
            <a:ext cx="3529584" cy="996696"/>
          </a:xfrm>
          <a:prstGeom prst="roundRect">
            <a:avLst>
              <a:gd name="adj" fmla="val 12000"/>
            </a:avLst>
          </a:prstGeom>
          <a:solidFill>
            <a:srgbClr val="EA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Next policy decision&#10;Continue or stop"/>
          <p:cNvSpPr txBox="1"/>
          <p:nvPr/>
        </p:nvSpPr>
        <p:spPr>
          <a:xfrm>
            <a:off x="8110727" y="4197096"/>
            <a:ext cx="3346703" cy="886968"/>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2000" b="1">
                <a:solidFill>
                  <a:srgbClr val="4263D8"/>
                </a:solidFill>
                <a:latin typeface="Aptos"/>
              </a:rPr>
              <a:t>Next policy decision</a:t>
            </a:r>
          </a:p>
          <a:p>
            <a:pPr algn="ctr">
              <a:lnSpc>
                <a:spcPct val="108000"/>
              </a:lnSpc>
              <a:spcBef>
                <a:spcPts val="0"/>
              </a:spcBef>
              <a:spcAft>
                <a:spcPts val="0"/>
              </a:spcAft>
            </a:pPr>
            <a:r>
              <a:rPr sz="2000" b="1">
                <a:solidFill>
                  <a:srgbClr val="4263D8"/>
                </a:solidFill>
                <a:latin typeface="Aptos"/>
              </a:rPr>
              <a:t>Continue or stop</a:t>
            </a:r>
          </a:p>
        </p:txBody>
      </p:sp>
      <p:sp>
        <p:nvSpPr>
          <p:cNvPr id="27" name="Text: Name the evidence   •   Track progress   •   Validate the de"/>
          <p:cNvSpPr txBox="1"/>
          <p:nvPr/>
        </p:nvSpPr>
        <p:spPr>
          <a:xfrm>
            <a:off x="694944" y="5385816"/>
            <a:ext cx="10853928" cy="283464"/>
          </a:xfrm>
          <a:prstGeom prst="rect">
            <a:avLst/>
          </a:prstGeom>
          <a:noFill/>
        </p:spPr>
        <p:txBody>
          <a:bodyPr wrap="square" lIns="13716" rIns="13716" tIns="13716" bIns="13716" anchor="ctr">
            <a:spAutoFit/>
          </a:bodyPr>
          <a:lstStyle/>
          <a:p>
            <a:pPr algn="ctr">
              <a:lnSpc>
                <a:spcPct val="108000"/>
              </a:lnSpc>
              <a:spcBef>
                <a:spcPts val="0"/>
              </a:spcBef>
              <a:spcAft>
                <a:spcPts val="0"/>
              </a:spcAft>
            </a:pPr>
            <a:r>
              <a:rPr sz="1700" b="0">
                <a:solidFill>
                  <a:srgbClr val="52647B"/>
                </a:solidFill>
                <a:latin typeface="Aptos"/>
              </a:rPr>
              <a:t>Name the evidence   •   Track progress   •   Validate the decision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 chat: beyond round robin</dc:title>
  <dc:subject>Five abstract ideas for teaching group chat orchestration</dc:subject>
  <dc:creator>Daniel Costea</dc:creator>
  <cp:keywords>group chat, orchestration, human in the loop, manager, explicit state</cp:keywords>
  <dc:description>Five concept-first slides. Diagrams are editable PowerPoint shapes and connectors.</dc:description>
  <cp:lastModifiedBy>Steve Canny</cp:lastModifiedBy>
  <cp:revision>1</cp:revision>
  <dcterms:created xsi:type="dcterms:W3CDTF">2013-01-27T09:14:16Z</dcterms:created>
  <dcterms:modified xsi:type="dcterms:W3CDTF">2013-01-27T09:15:58Z</dcterms:modified>
  <cp:category/>
</cp:coreProperties>
</file>